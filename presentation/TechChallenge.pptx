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4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21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x="18288000" cy="10287000"/>
  <p:notesSz cx="6858000" cy="9144000"/>
  <p:embeddedFontLst>
    <p:embeddedFont>
      <p:font typeface="Calibri (MS) Bold" charset="1" panose="020F0702030404030204"/>
      <p:regular r:id="rId24"/>
    </p:embeddedFont>
    <p:embeddedFont>
      <p:font typeface="Cambria Bold" charset="1" panose="02040803050406030204"/>
      <p:regular r:id="rId25"/>
    </p:embeddedFont>
    <p:embeddedFont>
      <p:font typeface="Calibri (MS)" charset="1" panose="020F0502020204030204"/>
      <p:regular r:id="rId2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notesMasters/notesMaster1.xml" Type="http://schemas.openxmlformats.org/officeDocument/2006/relationships/notesMaster"/><Relationship Id="rId22" Target="theme/theme2.xml" Type="http://schemas.openxmlformats.org/officeDocument/2006/relationships/theme"/><Relationship Id="rId23" Target="notesSlides/notesSlide1.xml" Type="http://schemas.openxmlformats.org/officeDocument/2006/relationships/notesSlide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27" Target="notesSlides/notesSlide2.xml" Type="http://schemas.openxmlformats.org/officeDocument/2006/relationships/notesSlide"/><Relationship Id="rId28" Target="notesSlides/notesSlide3.xml" Type="http://schemas.openxmlformats.org/officeDocument/2006/relationships/notesSlide"/><Relationship Id="rId29" Target="notesSlides/notesSlide4.xml" Type="http://schemas.openxmlformats.org/officeDocument/2006/relationships/notesSlide"/><Relationship Id="rId3" Target="viewProps.xml" Type="http://schemas.openxmlformats.org/officeDocument/2006/relationships/viewProps"/><Relationship Id="rId30" Target="notesSlides/notesSlide5.xml" Type="http://schemas.openxmlformats.org/officeDocument/2006/relationships/notesSlide"/><Relationship Id="rId31" Target="notesSlides/notesSlide6.xml" Type="http://schemas.openxmlformats.org/officeDocument/2006/relationships/notesSlide"/><Relationship Id="rId32" Target="notesSlides/notesSlide7.xml" Type="http://schemas.openxmlformats.org/officeDocument/2006/relationships/notesSlide"/><Relationship Id="rId33" Target="notesSlides/notesSlide8.xml" Type="http://schemas.openxmlformats.org/officeDocument/2006/relationships/notesSlide"/><Relationship Id="rId34" Target="notesSlides/notesSlide9.xml" Type="http://schemas.openxmlformats.org/officeDocument/2006/relationships/notesSlide"/><Relationship Id="rId35" Target="notesSlides/notesSlide10.xml" Type="http://schemas.openxmlformats.org/officeDocument/2006/relationships/notesSlide"/><Relationship Id="rId36" Target="notesSlides/notesSlide11.xml" Type="http://schemas.openxmlformats.org/officeDocument/2006/relationships/notesSlide"/><Relationship Id="rId37" Target="notesSlides/notesSlide12.xml" Type="http://schemas.openxmlformats.org/officeDocument/2006/relationships/notesSlide"/><Relationship Id="rId38" Target="notesSlides/notesSlide13.xml" Type="http://schemas.openxmlformats.org/officeDocument/2006/relationships/notesSlide"/><Relationship Id="rId39" Target="notesSlides/notesSlide14.xml" Type="http://schemas.openxmlformats.org/officeDocument/2006/relationships/notesSlide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_rels/notesSlide1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2.xml" Type="http://schemas.openxmlformats.org/officeDocument/2006/relationships/slide"/></Relationships>
</file>

<file path=ppt/notesSlides/_rels/notesSlide1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3.xml" Type="http://schemas.openxmlformats.org/officeDocument/2006/relationships/slide"/></Relationships>
</file>

<file path=ppt/notesSlides/_rels/notesSlide1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5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9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10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1.jpeg" Type="http://schemas.openxmlformats.org/officeDocument/2006/relationships/image"/><Relationship Id="rId4" Target="../media/image2.png" Type="http://schemas.openxmlformats.org/officeDocument/2006/relationships/image"/><Relationship Id="rId5" Target="../media/image3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1.jpeg" Type="http://schemas.openxmlformats.org/officeDocument/2006/relationships/image"/><Relationship Id="rId4" Target="../media/image4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1.jpeg" Type="http://schemas.openxmlformats.org/officeDocument/2006/relationships/image"/><Relationship Id="rId4" Target="../media/image5.png" Type="http://schemas.openxmlformats.org/officeDocument/2006/relationships/image"/><Relationship Id="rId5" Target="../media/image6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1.jpeg" Type="http://schemas.openxmlformats.org/officeDocument/2006/relationships/image"/><Relationship Id="rId4" Target="../media/image7.png" Type="http://schemas.openxmlformats.org/officeDocument/2006/relationships/image"/><Relationship Id="rId5" Target="../media/image8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1.jpeg" Type="http://schemas.openxmlformats.org/officeDocument/2006/relationships/image"/><Relationship Id="rId4" Target="../media/image9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Relationship Id="rId3" Target="../media/image1.jpeg" Type="http://schemas.openxmlformats.org/officeDocument/2006/relationships/image"/><Relationship Id="rId4" Target="../media/image10.png" Type="http://schemas.openxmlformats.org/officeDocument/2006/relationships/image"/><Relationship Id="rId5" Target="../media/image11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9.xml" Type="http://schemas.openxmlformats.org/officeDocument/2006/relationships/notesSlide"/><Relationship Id="rId3" Target="../media/image1.jpeg" Type="http://schemas.openxmlformats.org/officeDocument/2006/relationships/image"/><Relationship Id="rId4" Target="../media/image12.png" Type="http://schemas.openxmlformats.org/officeDocument/2006/relationships/image"/><Relationship Id="rId5" Target="../media/image13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0.xml" Type="http://schemas.openxmlformats.org/officeDocument/2006/relationships/notesSlide"/><Relationship Id="rId3" Target="../media/image1.jpeg" Type="http://schemas.openxmlformats.org/officeDocument/2006/relationships/image"/><Relationship Id="rId4" Target="../media/image14.png" Type="http://schemas.openxmlformats.org/officeDocument/2006/relationships/image"/><Relationship Id="rId5" Target="../media/image15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1.xml" Type="http://schemas.openxmlformats.org/officeDocument/2006/relationships/notesSlide"/><Relationship Id="rId3" Target="../media/image1.jpeg" Type="http://schemas.openxmlformats.org/officeDocument/2006/relationships/image"/><Relationship Id="rId4" Target="../media/image16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2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3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https://tinyurl.com/hfvz53c3" TargetMode="External" Type="http://schemas.openxmlformats.org/officeDocument/2006/relationships/hyperlink"/><Relationship Id="rId11" Target="https://tinyurl.com/hfvz53c3" TargetMode="External" Type="http://schemas.openxmlformats.org/officeDocument/2006/relationships/hyperlink"/><Relationship Id="rId2" Target="../media/image1.jpeg" Type="http://schemas.openxmlformats.org/officeDocument/2006/relationships/image"/><Relationship Id="rId3" Target="../media/image17.png" Type="http://schemas.openxmlformats.org/officeDocument/2006/relationships/image"/><Relationship Id="rId4" Target="https://github.com/viniromao159/bigdata_data_hackers" TargetMode="External" Type="http://schemas.openxmlformats.org/officeDocument/2006/relationships/hyperlink"/><Relationship Id="rId5" Target="https://github.com/viniromao159/bigdata_data_hackers" TargetMode="External" Type="http://schemas.openxmlformats.org/officeDocument/2006/relationships/hyperlink"/><Relationship Id="rId6" Target="../media/image18.png" Type="http://schemas.openxmlformats.org/officeDocument/2006/relationships/image"/><Relationship Id="rId7" Target="https://drive.google.com/drive/folders/1fDKt0R2d8Mjop54vf5LYDupLACMaQ-sz" TargetMode="External" Type="http://schemas.openxmlformats.org/officeDocument/2006/relationships/hyperlink"/><Relationship Id="rId8" Target="https://drive.google.com/drive/folders/1fDKt0R2d8Mjop54vf5LYDupLACMaQ-sz" TargetMode="External" Type="http://schemas.openxmlformats.org/officeDocument/2006/relationships/hyperlink"/><Relationship Id="rId9" Target="../media/image19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4.xml" Type="http://schemas.openxmlformats.org/officeDocument/2006/relationships/notesSlide"/><Relationship Id="rId3" Target="../media/image1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3428" cy="10287000"/>
            <a:chOff x="0" y="0"/>
            <a:chExt cx="24377904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77904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77904">
                  <a:moveTo>
                    <a:pt x="0" y="0"/>
                  </a:moveTo>
                  <a:lnTo>
                    <a:pt x="24377904" y="0"/>
                  </a:lnTo>
                  <a:lnTo>
                    <a:pt x="24377904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E2761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4538960" y="-2194560"/>
            <a:ext cx="7543800" cy="7543800"/>
            <a:chOff x="0" y="0"/>
            <a:chExt cx="10058400" cy="100584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0058400" cy="10058400"/>
            </a:xfrm>
            <a:custGeom>
              <a:avLst/>
              <a:gdLst/>
              <a:ahLst/>
              <a:cxnLst/>
              <a:rect r="r" b="b" t="t" l="l"/>
              <a:pathLst>
                <a:path h="10058400" w="10058400">
                  <a:moveTo>
                    <a:pt x="0" y="5029200"/>
                  </a:moveTo>
                  <a:cubicBezTo>
                    <a:pt x="0" y="2251710"/>
                    <a:pt x="2251710" y="0"/>
                    <a:pt x="5029200" y="0"/>
                  </a:cubicBezTo>
                  <a:cubicBezTo>
                    <a:pt x="7806690" y="0"/>
                    <a:pt x="10058400" y="2251710"/>
                    <a:pt x="10058400" y="5029200"/>
                  </a:cubicBezTo>
                  <a:cubicBezTo>
                    <a:pt x="10058400" y="7806690"/>
                    <a:pt x="7806690" y="10058400"/>
                    <a:pt x="5029200" y="10058400"/>
                  </a:cubicBezTo>
                  <a:cubicBezTo>
                    <a:pt x="2251710" y="10058400"/>
                    <a:pt x="0" y="7806690"/>
                    <a:pt x="0" y="5029200"/>
                  </a:cubicBezTo>
                  <a:close/>
                </a:path>
              </a:pathLst>
            </a:custGeom>
            <a:solidFill>
              <a:srgbClr val="2E3F8F">
                <a:alpha val="35686"/>
              </a:srgbClr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6184880" y="6309360"/>
            <a:ext cx="4663440" cy="4663440"/>
            <a:chOff x="0" y="0"/>
            <a:chExt cx="6217920" cy="621792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6217920" cy="6217920"/>
            </a:xfrm>
            <a:custGeom>
              <a:avLst/>
              <a:gdLst/>
              <a:ahLst/>
              <a:cxnLst/>
              <a:rect r="r" b="b" t="t" l="l"/>
              <a:pathLst>
                <a:path h="6217920" w="6217920">
                  <a:moveTo>
                    <a:pt x="0" y="3108960"/>
                  </a:moveTo>
                  <a:cubicBezTo>
                    <a:pt x="0" y="1391920"/>
                    <a:pt x="1391920" y="0"/>
                    <a:pt x="3108960" y="0"/>
                  </a:cubicBezTo>
                  <a:cubicBezTo>
                    <a:pt x="4826000" y="0"/>
                    <a:pt x="6217920" y="1391920"/>
                    <a:pt x="6217920" y="3108960"/>
                  </a:cubicBezTo>
                  <a:cubicBezTo>
                    <a:pt x="6217920" y="4826000"/>
                    <a:pt x="4826000" y="6217920"/>
                    <a:pt x="3108960" y="6217920"/>
                  </a:cubicBezTo>
                  <a:cubicBezTo>
                    <a:pt x="1391920" y="6217920"/>
                    <a:pt x="0" y="4826000"/>
                    <a:pt x="0" y="3108960"/>
                  </a:cubicBezTo>
                  <a:close/>
                </a:path>
              </a:pathLst>
            </a:custGeom>
            <a:solidFill>
              <a:srgbClr val="F2B134">
                <a:alpha val="3137"/>
              </a:srgbClr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234440" y="2811780"/>
            <a:ext cx="12344400" cy="480060"/>
            <a:chOff x="0" y="0"/>
            <a:chExt cx="16459200" cy="64008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6459200" cy="640080"/>
            </a:xfrm>
            <a:custGeom>
              <a:avLst/>
              <a:gdLst/>
              <a:ahLst/>
              <a:cxnLst/>
              <a:rect r="r" b="b" t="t" l="l"/>
              <a:pathLst>
                <a:path h="640080" w="16459200">
                  <a:moveTo>
                    <a:pt x="0" y="0"/>
                  </a:moveTo>
                  <a:lnTo>
                    <a:pt x="16459200" y="0"/>
                  </a:lnTo>
                  <a:lnTo>
                    <a:pt x="164592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51043" r="0" b="-451043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16459200" cy="6877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b="true" sz="2100" spc="299">
                  <a:solidFill>
                    <a:srgbClr val="F2B13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TECH CHALLENGE – FASE 3 · PÓS-TECH DATA ANALYTICS · FIAP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234440" y="3360420"/>
            <a:ext cx="14813280" cy="1783080"/>
            <a:chOff x="0" y="0"/>
            <a:chExt cx="19751040" cy="237744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9751039" cy="2377440"/>
            </a:xfrm>
            <a:custGeom>
              <a:avLst/>
              <a:gdLst/>
              <a:ahLst/>
              <a:cxnLst/>
              <a:rect r="r" b="b" t="t" l="l"/>
              <a:pathLst>
                <a:path h="2377440" w="19751039">
                  <a:moveTo>
                    <a:pt x="0" y="0"/>
                  </a:moveTo>
                  <a:lnTo>
                    <a:pt x="19751039" y="0"/>
                  </a:lnTo>
                  <a:lnTo>
                    <a:pt x="19751039" y="2377440"/>
                  </a:lnTo>
                  <a:lnTo>
                    <a:pt x="0" y="2377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1875" r="0" b="-111875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19050"/>
              <a:ext cx="19751040" cy="23964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920"/>
                </a:lnSpc>
              </a:pPr>
              <a:r>
                <a:rPr lang="en-US" sz="66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O Mercado Brasileiro de Dados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234440" y="4869180"/>
            <a:ext cx="13441680" cy="960120"/>
            <a:chOff x="0" y="0"/>
            <a:chExt cx="17922240" cy="128016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7922239" cy="1280160"/>
            </a:xfrm>
            <a:custGeom>
              <a:avLst/>
              <a:gdLst/>
              <a:ahLst/>
              <a:cxnLst/>
              <a:rect r="r" b="b" t="t" l="l"/>
              <a:pathLst>
                <a:path h="1280160" w="17922239">
                  <a:moveTo>
                    <a:pt x="0" y="0"/>
                  </a:moveTo>
                  <a:lnTo>
                    <a:pt x="17922239" y="0"/>
                  </a:lnTo>
                  <a:lnTo>
                    <a:pt x="17922239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2790" r="0" b="-222790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57150"/>
              <a:ext cx="17922240" cy="13373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>
                  <a:solidFill>
                    <a:srgbClr val="CADCF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Panorama estratégico para expansão em Dados, Analytics e Inteligência Artificial</a:t>
              </a:r>
            </a:p>
          </p:txBody>
        </p:sp>
      </p:grpSp>
      <p:sp>
        <p:nvSpPr>
          <p:cNvPr name="AutoShape 17" id="17"/>
          <p:cNvSpPr/>
          <p:nvPr/>
        </p:nvSpPr>
        <p:spPr>
          <a:xfrm rot="31560">
            <a:off x="1215304" y="6162675"/>
            <a:ext cx="4153071" cy="0"/>
          </a:xfrm>
          <a:prstGeom prst="line">
            <a:avLst/>
          </a:prstGeom>
          <a:ln cap="rnd" w="19050">
            <a:solidFill>
              <a:srgbClr val="F2B134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8" id="18"/>
          <p:cNvGrpSpPr/>
          <p:nvPr/>
        </p:nvGrpSpPr>
        <p:grpSpPr>
          <a:xfrm rot="0">
            <a:off x="1234440" y="6240780"/>
            <a:ext cx="13716000" cy="1691640"/>
            <a:chOff x="0" y="0"/>
            <a:chExt cx="18288000" cy="225552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8288000" cy="2255522"/>
            </a:xfrm>
            <a:custGeom>
              <a:avLst/>
              <a:gdLst/>
              <a:ahLst/>
              <a:cxnLst/>
              <a:rect r="r" b="b" t="t" l="l"/>
              <a:pathLst>
                <a:path h="2255522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2255522"/>
                  </a:lnTo>
                  <a:lnTo>
                    <a:pt x="0" y="225552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7986" r="0" b="-107986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161925"/>
              <a:ext cx="18288000" cy="24174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780"/>
                </a:lnSpc>
              </a:pPr>
              <a:r>
                <a:rPr lang="en-US" sz="21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Grupo 6:</a:t>
              </a:r>
              <a:r>
                <a:rPr lang="en-US" sz="21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Carlos Henrique Freitas</a:t>
              </a:r>
            </a:p>
            <a:p>
              <a:pPr algn="l">
                <a:lnSpc>
                  <a:spcPts val="3780"/>
                </a:lnSpc>
              </a:pPr>
              <a:r>
                <a:rPr lang="en-US" sz="21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         Maycon Suel da Silva Nunes </a:t>
              </a:r>
            </a:p>
            <a:p>
              <a:pPr algn="l">
                <a:lnSpc>
                  <a:spcPts val="3780"/>
                </a:lnSpc>
              </a:pPr>
              <a:r>
                <a:rPr lang="en-US" sz="21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         Vinicius Lopes Romão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234440" y="8412480"/>
            <a:ext cx="14401800" cy="480060"/>
            <a:chOff x="0" y="0"/>
            <a:chExt cx="19202400" cy="64008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9202400" cy="640080"/>
            </a:xfrm>
            <a:custGeom>
              <a:avLst/>
              <a:gdLst/>
              <a:ahLst/>
              <a:cxnLst/>
              <a:rect r="r" b="b" t="t" l="l"/>
              <a:pathLst>
                <a:path h="640080" w="19202400">
                  <a:moveTo>
                    <a:pt x="0" y="0"/>
                  </a:moveTo>
                  <a:lnTo>
                    <a:pt x="19202400" y="0"/>
                  </a:lnTo>
                  <a:lnTo>
                    <a:pt x="192024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34551" r="0" b="-534551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47625"/>
              <a:ext cx="19202400" cy="6877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Fonte dos dados: </a:t>
              </a:r>
              <a:r>
                <a:rPr lang="en-US" sz="1950">
                  <a:solidFill>
                    <a:srgbClr val="CADCF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Pesquisa State of Data Brasil — Data Hackers x Bain (edições 2023, 2024 e 2025)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685800"/>
            <a:ext cx="10972800" cy="411480"/>
            <a:chOff x="0" y="0"/>
            <a:chExt cx="14630400" cy="5486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630400" cy="548640"/>
            </a:xfrm>
            <a:custGeom>
              <a:avLst/>
              <a:gdLst/>
              <a:ahLst/>
              <a:cxnLst/>
              <a:rect r="r" b="b" t="t" l="l"/>
              <a:pathLst>
                <a:path h="5486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9601" r="0" b="-469601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146304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b="true" sz="1650" spc="299">
                  <a:solidFill>
                    <a:srgbClr val="F2B13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CONTEXTO E OBJETIVO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22960" y="1069848"/>
            <a:ext cx="15773400" cy="1028700"/>
            <a:chOff x="0" y="0"/>
            <a:chExt cx="21031200" cy="13716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031200" cy="1371600"/>
            </a:xfrm>
            <a:custGeom>
              <a:avLst/>
              <a:gdLst/>
              <a:ahLst/>
              <a:cxnLst/>
              <a:rect r="r" b="b" t="t" l="l"/>
              <a:pathLst>
                <a:path h="1371600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1371600"/>
                  </a:lnTo>
                  <a:lnTo>
                    <a:pt x="0" y="1371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8770" r="0" b="-248770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21031200" cy="13811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040"/>
                </a:lnSpc>
              </a:pPr>
              <a:r>
                <a:rPr lang="en-US" sz="4200" b="true">
                  <a:solidFill>
                    <a:srgbClr val="1E2761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Por que este estudo, e para quem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22960" y="2537460"/>
            <a:ext cx="10424160" cy="6309360"/>
            <a:chOff x="0" y="0"/>
            <a:chExt cx="13898880" cy="841248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3898880" cy="8412480"/>
            </a:xfrm>
            <a:custGeom>
              <a:avLst/>
              <a:gdLst/>
              <a:ahLst/>
              <a:cxnLst/>
              <a:rect r="r" b="b" t="t" l="l"/>
              <a:pathLst>
                <a:path h="8412480" w="1389888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13752576" y="0"/>
                  </a:lnTo>
                  <a:cubicBezTo>
                    <a:pt x="13833348" y="0"/>
                    <a:pt x="13898880" y="65532"/>
                    <a:pt x="13898880" y="146304"/>
                  </a:cubicBezTo>
                  <a:lnTo>
                    <a:pt x="13898880" y="8266176"/>
                  </a:lnTo>
                  <a:cubicBezTo>
                    <a:pt x="13898880" y="8346948"/>
                    <a:pt x="13833348" y="8412480"/>
                    <a:pt x="13752576" y="8412480"/>
                  </a:cubicBezTo>
                  <a:lnTo>
                    <a:pt x="146304" y="8412480"/>
                  </a:lnTo>
                  <a:cubicBezTo>
                    <a:pt x="65532" y="8412480"/>
                    <a:pt x="0" y="8346948"/>
                    <a:pt x="0" y="8266176"/>
                  </a:cubicBezTo>
                  <a:close/>
                </a:path>
              </a:pathLst>
            </a:custGeom>
            <a:solidFill>
              <a:srgbClr val="EEF2FB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303020" y="3017520"/>
            <a:ext cx="192024" cy="192024"/>
            <a:chOff x="0" y="0"/>
            <a:chExt cx="256032" cy="25603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56032" cy="256032"/>
            </a:xfrm>
            <a:custGeom>
              <a:avLst/>
              <a:gdLst/>
              <a:ahLst/>
              <a:cxnLst/>
              <a:rect r="r" b="b" t="t" l="l"/>
              <a:pathLst>
                <a:path h="256032" w="256032">
                  <a:moveTo>
                    <a:pt x="0" y="128016"/>
                  </a:moveTo>
                  <a:cubicBezTo>
                    <a:pt x="0" y="57277"/>
                    <a:pt x="57277" y="0"/>
                    <a:pt x="128016" y="0"/>
                  </a:cubicBezTo>
                  <a:cubicBezTo>
                    <a:pt x="198755" y="0"/>
                    <a:pt x="256032" y="57277"/>
                    <a:pt x="256032" y="128016"/>
                  </a:cubicBezTo>
                  <a:cubicBezTo>
                    <a:pt x="256032" y="198755"/>
                    <a:pt x="198755" y="256032"/>
                    <a:pt x="128016" y="256032"/>
                  </a:cubicBezTo>
                  <a:cubicBezTo>
                    <a:pt x="57277" y="256032"/>
                    <a:pt x="0" y="198755"/>
                    <a:pt x="0" y="128016"/>
                  </a:cubicBezTo>
                  <a:close/>
                </a:path>
              </a:pathLst>
            </a:custGeom>
            <a:solidFill>
              <a:srgbClr val="F2B134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303020" y="4457700"/>
            <a:ext cx="192024" cy="192024"/>
            <a:chOff x="0" y="0"/>
            <a:chExt cx="256032" cy="256032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56032" cy="256032"/>
            </a:xfrm>
            <a:custGeom>
              <a:avLst/>
              <a:gdLst/>
              <a:ahLst/>
              <a:cxnLst/>
              <a:rect r="r" b="b" t="t" l="l"/>
              <a:pathLst>
                <a:path h="256032" w="256032">
                  <a:moveTo>
                    <a:pt x="0" y="128016"/>
                  </a:moveTo>
                  <a:cubicBezTo>
                    <a:pt x="0" y="57277"/>
                    <a:pt x="57277" y="0"/>
                    <a:pt x="128016" y="0"/>
                  </a:cubicBezTo>
                  <a:cubicBezTo>
                    <a:pt x="198755" y="0"/>
                    <a:pt x="256032" y="57277"/>
                    <a:pt x="256032" y="128016"/>
                  </a:cubicBezTo>
                  <a:cubicBezTo>
                    <a:pt x="256032" y="198755"/>
                    <a:pt x="198755" y="256032"/>
                    <a:pt x="128016" y="256032"/>
                  </a:cubicBezTo>
                  <a:cubicBezTo>
                    <a:pt x="57277" y="256032"/>
                    <a:pt x="0" y="198755"/>
                    <a:pt x="0" y="128016"/>
                  </a:cubicBezTo>
                  <a:close/>
                </a:path>
              </a:pathLst>
            </a:custGeom>
            <a:solidFill>
              <a:srgbClr val="F2B134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303020" y="5897880"/>
            <a:ext cx="192024" cy="192024"/>
            <a:chOff x="0" y="0"/>
            <a:chExt cx="256032" cy="256032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56032" cy="256032"/>
            </a:xfrm>
            <a:custGeom>
              <a:avLst/>
              <a:gdLst/>
              <a:ahLst/>
              <a:cxnLst/>
              <a:rect r="r" b="b" t="t" l="l"/>
              <a:pathLst>
                <a:path h="256032" w="256032">
                  <a:moveTo>
                    <a:pt x="0" y="128016"/>
                  </a:moveTo>
                  <a:cubicBezTo>
                    <a:pt x="0" y="57277"/>
                    <a:pt x="57277" y="0"/>
                    <a:pt x="128016" y="0"/>
                  </a:cubicBezTo>
                  <a:cubicBezTo>
                    <a:pt x="198755" y="0"/>
                    <a:pt x="256032" y="57277"/>
                    <a:pt x="256032" y="128016"/>
                  </a:cubicBezTo>
                  <a:cubicBezTo>
                    <a:pt x="256032" y="198755"/>
                    <a:pt x="198755" y="256032"/>
                    <a:pt x="128016" y="256032"/>
                  </a:cubicBezTo>
                  <a:cubicBezTo>
                    <a:pt x="57277" y="256032"/>
                    <a:pt x="0" y="198755"/>
                    <a:pt x="0" y="128016"/>
                  </a:cubicBezTo>
                  <a:close/>
                </a:path>
              </a:pathLst>
            </a:custGeom>
            <a:solidFill>
              <a:srgbClr val="F2B134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303020" y="7338060"/>
            <a:ext cx="192024" cy="192024"/>
            <a:chOff x="0" y="0"/>
            <a:chExt cx="256032" cy="256032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56032" cy="256032"/>
            </a:xfrm>
            <a:custGeom>
              <a:avLst/>
              <a:gdLst/>
              <a:ahLst/>
              <a:cxnLst/>
              <a:rect r="r" b="b" t="t" l="l"/>
              <a:pathLst>
                <a:path h="256032" w="256032">
                  <a:moveTo>
                    <a:pt x="0" y="128016"/>
                  </a:moveTo>
                  <a:cubicBezTo>
                    <a:pt x="0" y="57277"/>
                    <a:pt x="57277" y="0"/>
                    <a:pt x="128016" y="0"/>
                  </a:cubicBezTo>
                  <a:cubicBezTo>
                    <a:pt x="198755" y="0"/>
                    <a:pt x="256032" y="57277"/>
                    <a:pt x="256032" y="128016"/>
                  </a:cubicBezTo>
                  <a:cubicBezTo>
                    <a:pt x="256032" y="198755"/>
                    <a:pt x="198755" y="256032"/>
                    <a:pt x="128016" y="256032"/>
                  </a:cubicBezTo>
                  <a:cubicBezTo>
                    <a:pt x="57277" y="256032"/>
                    <a:pt x="0" y="198755"/>
                    <a:pt x="0" y="128016"/>
                  </a:cubicBezTo>
                  <a:close/>
                </a:path>
              </a:pathLst>
            </a:custGeom>
            <a:solidFill>
              <a:srgbClr val="F2B134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11727180" y="2537460"/>
            <a:ext cx="5692140" cy="6309360"/>
            <a:chOff x="0" y="0"/>
            <a:chExt cx="7589520" cy="841248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7589520" cy="8412480"/>
            </a:xfrm>
            <a:custGeom>
              <a:avLst/>
              <a:gdLst/>
              <a:ahLst/>
              <a:cxnLst/>
              <a:rect r="r" b="b" t="t" l="l"/>
              <a:pathLst>
                <a:path h="8412480" w="758952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7443216" y="0"/>
                  </a:lnTo>
                  <a:cubicBezTo>
                    <a:pt x="7523988" y="0"/>
                    <a:pt x="7589520" y="65532"/>
                    <a:pt x="7589520" y="146304"/>
                  </a:cubicBezTo>
                  <a:lnTo>
                    <a:pt x="7589520" y="8266176"/>
                  </a:lnTo>
                  <a:cubicBezTo>
                    <a:pt x="7589520" y="8346948"/>
                    <a:pt x="7523988" y="8412480"/>
                    <a:pt x="7443216" y="8412480"/>
                  </a:cubicBezTo>
                  <a:lnTo>
                    <a:pt x="146304" y="8412480"/>
                  </a:lnTo>
                  <a:cubicBezTo>
                    <a:pt x="65532" y="8412480"/>
                    <a:pt x="0" y="8346948"/>
                    <a:pt x="0" y="8266176"/>
                  </a:cubicBezTo>
                  <a:close/>
                </a:path>
              </a:pathLst>
            </a:custGeom>
            <a:solidFill>
              <a:srgbClr val="1E2761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11727180" y="2948940"/>
            <a:ext cx="5692140" cy="1371600"/>
            <a:chOff x="0" y="0"/>
            <a:chExt cx="7589520" cy="18288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7589520" cy="1828800"/>
            </a:xfrm>
            <a:custGeom>
              <a:avLst/>
              <a:gdLst/>
              <a:ahLst/>
              <a:cxnLst/>
              <a:rect r="r" b="b" t="t" l="l"/>
              <a:pathLst>
                <a:path h="1828800" w="7589520">
                  <a:moveTo>
                    <a:pt x="0" y="0"/>
                  </a:moveTo>
                  <a:lnTo>
                    <a:pt x="7589520" y="0"/>
                  </a:lnTo>
                  <a:lnTo>
                    <a:pt x="758952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0862" r="0" b="-30862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19050"/>
              <a:ext cx="7589520" cy="18478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0800"/>
                </a:lnSpc>
              </a:pPr>
              <a:r>
                <a:rPr lang="en-US" sz="9000" b="true">
                  <a:solidFill>
                    <a:srgbClr val="F2B134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3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2138660" y="4320540"/>
            <a:ext cx="4869180" cy="1097280"/>
            <a:chOff x="0" y="0"/>
            <a:chExt cx="6492240" cy="146304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6492240" cy="1463040"/>
            </a:xfrm>
            <a:custGeom>
              <a:avLst/>
              <a:gdLst/>
              <a:ahLst/>
              <a:cxnLst/>
              <a:rect r="r" b="b" t="t" l="l"/>
              <a:pathLst>
                <a:path h="1463040" w="6492240">
                  <a:moveTo>
                    <a:pt x="0" y="0"/>
                  </a:moveTo>
                  <a:lnTo>
                    <a:pt x="6492240" y="0"/>
                  </a:lnTo>
                  <a:lnTo>
                    <a:pt x="649224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6464" r="0" b="-36464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47625"/>
              <a:ext cx="6492240" cy="15106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edições da pesquisa analisadas</a:t>
              </a:r>
            </a:p>
            <a:p>
              <a:pPr algn="ctr">
                <a:lnSpc>
                  <a:spcPts val="2340"/>
                </a:lnSpc>
              </a:pPr>
              <a:r>
                <a:rPr lang="en-US" sz="195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(2023, 2024 e 2025)</a:t>
              </a:r>
            </a:p>
          </p:txBody>
        </p:sp>
      </p:grpSp>
      <p:sp>
        <p:nvSpPr>
          <p:cNvPr name="AutoShape 26" id="26"/>
          <p:cNvSpPr/>
          <p:nvPr/>
        </p:nvSpPr>
        <p:spPr>
          <a:xfrm rot="14640">
            <a:off x="12334856" y="5687378"/>
            <a:ext cx="4476788" cy="0"/>
          </a:xfrm>
          <a:prstGeom prst="line">
            <a:avLst/>
          </a:prstGeom>
          <a:ln cap="rnd" w="9525">
            <a:solidFill>
              <a:srgbClr val="CADCFC">
                <a:alpha val="60000"/>
              </a:srgbClr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7" id="27"/>
          <p:cNvGrpSpPr/>
          <p:nvPr/>
        </p:nvGrpSpPr>
        <p:grpSpPr>
          <a:xfrm rot="0">
            <a:off x="11727180" y="5966460"/>
            <a:ext cx="5692140" cy="1371600"/>
            <a:chOff x="0" y="0"/>
            <a:chExt cx="7589520" cy="18288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7589520" cy="1828800"/>
            </a:xfrm>
            <a:custGeom>
              <a:avLst/>
              <a:gdLst/>
              <a:ahLst/>
              <a:cxnLst/>
              <a:rect r="r" b="b" t="t" l="l"/>
              <a:pathLst>
                <a:path h="1828800" w="7589520">
                  <a:moveTo>
                    <a:pt x="0" y="0"/>
                  </a:moveTo>
                  <a:lnTo>
                    <a:pt x="7589520" y="0"/>
                  </a:lnTo>
                  <a:lnTo>
                    <a:pt x="758952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0862" r="0" b="-30862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19050"/>
              <a:ext cx="7589520" cy="18478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0800"/>
                </a:lnSpc>
              </a:pPr>
              <a:r>
                <a:rPr lang="en-US" sz="9000" b="true">
                  <a:solidFill>
                    <a:srgbClr val="F2B134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7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12138660" y="7338060"/>
            <a:ext cx="4869180" cy="1097280"/>
            <a:chOff x="0" y="0"/>
            <a:chExt cx="6492240" cy="146304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6492240" cy="1463040"/>
            </a:xfrm>
            <a:custGeom>
              <a:avLst/>
              <a:gdLst/>
              <a:ahLst/>
              <a:cxnLst/>
              <a:rect r="r" b="b" t="t" l="l"/>
              <a:pathLst>
                <a:path h="1463040" w="6492240">
                  <a:moveTo>
                    <a:pt x="0" y="0"/>
                  </a:moveTo>
                  <a:lnTo>
                    <a:pt x="6492240" y="0"/>
                  </a:lnTo>
                  <a:lnTo>
                    <a:pt x="649224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6464" r="0" b="-36464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47625"/>
              <a:ext cx="6492240" cy="15106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perguntas centrais respondidas</a:t>
              </a:r>
            </a:p>
            <a:p>
              <a:pPr algn="ctr">
                <a:lnSpc>
                  <a:spcPts val="2340"/>
                </a:lnSpc>
              </a:pPr>
              <a:r>
                <a:rPr lang="en-US" sz="195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sobre o mercado de dados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16088868" y="9710928"/>
            <a:ext cx="1371600" cy="411480"/>
            <a:chOff x="0" y="0"/>
            <a:chExt cx="1828800" cy="54864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828800" cy="548640"/>
            </a:xfrm>
            <a:custGeom>
              <a:avLst/>
              <a:gdLst/>
              <a:ahLst/>
              <a:cxnLst/>
              <a:rect r="r" b="b" t="t" l="l"/>
              <a:pathLst>
                <a:path h="548640" w="1828800">
                  <a:moveTo>
                    <a:pt x="0" y="0"/>
                  </a:moveTo>
                  <a:lnTo>
                    <a:pt x="1828800" y="0"/>
                  </a:lnTo>
                  <a:lnTo>
                    <a:pt x="18288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950" r="0" b="-14950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28575"/>
              <a:ext cx="18288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5B6B8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2</a:t>
              </a:r>
            </a:p>
          </p:txBody>
        </p:sp>
      </p:grpSp>
      <p:sp>
        <p:nvSpPr>
          <p:cNvPr name="TextBox 36" id="36"/>
          <p:cNvSpPr txBox="true"/>
          <p:nvPr/>
        </p:nvSpPr>
        <p:spPr>
          <a:xfrm rot="0">
            <a:off x="1805940" y="2790825"/>
            <a:ext cx="8938260" cy="12782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72"/>
              </a:lnSpc>
            </a:pPr>
            <a:r>
              <a:rPr lang="en-US" sz="2100">
                <a:solidFill>
                  <a:srgbClr val="1E2761"/>
                </a:solidFill>
                <a:latin typeface="Calibri (MS)"/>
                <a:ea typeface="Calibri (MS)"/>
                <a:cs typeface="Calibri (MS)"/>
                <a:sym typeface="Calibri (MS)"/>
              </a:rPr>
              <a:t>A Instituição Financeira pretende expandir sua área de Dados, Analytics e Inteligência Artificial.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805940" y="4231005"/>
            <a:ext cx="8938260" cy="12782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72"/>
              </a:lnSpc>
            </a:pPr>
            <a:r>
              <a:rPr lang="en-US" sz="2100">
                <a:solidFill>
                  <a:srgbClr val="1E2761"/>
                </a:solidFill>
                <a:latin typeface="Calibri (MS)"/>
                <a:ea typeface="Calibri (MS)"/>
                <a:cs typeface="Calibri (MS)"/>
                <a:sym typeface="Calibri (MS)"/>
              </a:rPr>
              <a:t>Antes de investir, precisa compreender o cenário atual do mercado brasileiro de profissionais de dados.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805940" y="5671185"/>
            <a:ext cx="8938260" cy="12782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72"/>
              </a:lnSpc>
            </a:pPr>
            <a:r>
              <a:rPr lang="en-US" sz="2100">
                <a:solidFill>
                  <a:srgbClr val="1E2761"/>
                </a:solidFill>
                <a:latin typeface="Calibri (MS)"/>
                <a:ea typeface="Calibri (MS)"/>
                <a:cs typeface="Calibri (MS)"/>
                <a:sym typeface="Calibri (MS)"/>
              </a:rPr>
              <a:t>Este material orienta três decisões: como contratar, como capacitar e onde investir em tecnologia.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805940" y="7111365"/>
            <a:ext cx="8938260" cy="12782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72"/>
              </a:lnSpc>
            </a:pPr>
            <a:r>
              <a:rPr lang="en-US" sz="2100">
                <a:solidFill>
                  <a:srgbClr val="1E2761"/>
                </a:solidFill>
                <a:latin typeface="Calibri (MS)"/>
                <a:ea typeface="Calibri (MS)"/>
                <a:cs typeface="Calibri (MS)"/>
                <a:sym typeface="Calibri (MS)"/>
              </a:rPr>
              <a:t>A análise cobre 3 edições consecutivas da pesquisa (2023–2025), permitindo enxergar tendências, não só um retrato estático.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480060"/>
            <a:ext cx="10972800" cy="411480"/>
            <a:chOff x="0" y="0"/>
            <a:chExt cx="14630400" cy="5486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630400" cy="548640"/>
            </a:xfrm>
            <a:custGeom>
              <a:avLst/>
              <a:gdLst/>
              <a:ahLst/>
              <a:cxnLst/>
              <a:rect r="r" b="b" t="t" l="l"/>
              <a:pathLst>
                <a:path h="5486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9601" r="0" b="-469601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146304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b="true" sz="1650" spc="299">
                  <a:solidFill>
                    <a:srgbClr val="F2B13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PERGUNTA 1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914400" y="867537"/>
            <a:ext cx="16413480" cy="13087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58"/>
              </a:lnSpc>
            </a:pPr>
            <a:r>
              <a:rPr lang="en-US" sz="3300" b="true">
                <a:solidFill>
                  <a:srgbClr val="1E2761"/>
                </a:solidFill>
                <a:latin typeface="Cambria Bold"/>
                <a:ea typeface="Cambria Bold"/>
                <a:cs typeface="Cambria Bold"/>
                <a:sym typeface="Cambria Bold"/>
              </a:rPr>
              <a:t>Como está estruturado o mercado brasileiro de Dados?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822960" y="7612380"/>
            <a:ext cx="16596360" cy="1851660"/>
            <a:chOff x="0" y="0"/>
            <a:chExt cx="22128480" cy="246888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2128480" cy="2468880"/>
            </a:xfrm>
            <a:custGeom>
              <a:avLst/>
              <a:gdLst/>
              <a:ahLst/>
              <a:cxnLst/>
              <a:rect r="r" b="b" t="t" l="l"/>
              <a:pathLst>
                <a:path h="2468880" w="2212848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21982176" y="0"/>
                  </a:lnTo>
                  <a:cubicBezTo>
                    <a:pt x="22062948" y="0"/>
                    <a:pt x="22128480" y="65532"/>
                    <a:pt x="22128480" y="146304"/>
                  </a:cubicBezTo>
                  <a:lnTo>
                    <a:pt x="22128480" y="2322576"/>
                  </a:lnTo>
                  <a:cubicBezTo>
                    <a:pt x="22128480" y="2403348"/>
                    <a:pt x="22062948" y="2468880"/>
                    <a:pt x="21982176" y="2468880"/>
                  </a:cubicBezTo>
                  <a:lnTo>
                    <a:pt x="146304" y="2468880"/>
                  </a:lnTo>
                  <a:cubicBezTo>
                    <a:pt x="65532" y="2468880"/>
                    <a:pt x="0" y="2403348"/>
                    <a:pt x="0" y="2322576"/>
                  </a:cubicBezTo>
                  <a:close/>
                </a:path>
              </a:pathLst>
            </a:custGeom>
            <a:solidFill>
              <a:srgbClr val="1E2761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303020" y="7790688"/>
            <a:ext cx="15636240" cy="1508760"/>
            <a:chOff x="0" y="0"/>
            <a:chExt cx="20848320" cy="201168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0848320" cy="2011680"/>
            </a:xfrm>
            <a:custGeom>
              <a:avLst/>
              <a:gdLst/>
              <a:ahLst/>
              <a:cxnLst/>
              <a:rect r="r" b="b" t="t" l="l"/>
              <a:pathLst>
                <a:path h="2011680" w="20848320">
                  <a:moveTo>
                    <a:pt x="0" y="0"/>
                  </a:moveTo>
                  <a:lnTo>
                    <a:pt x="20848320" y="0"/>
                  </a:lnTo>
                  <a:lnTo>
                    <a:pt x="20848320" y="2011680"/>
                  </a:lnTo>
                  <a:lnTo>
                    <a:pt x="0" y="2011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1935" r="0" b="-151935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76200"/>
              <a:ext cx="20848320" cy="20878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90"/>
                </a:lnSpc>
              </a:pPr>
              <a:r>
                <a:rPr lang="en-US" sz="1950" b="true">
                  <a:solidFill>
                    <a:srgbClr val="F2B13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Insight  </a:t>
              </a:r>
              <a:r>
                <a:rPr lang="en-US" sz="195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O mercado é predominantemente CLT (69%) e maduro. Sênior e Pleno já somam mais de 75% em todos os anos, enquanto a fatia de Júnior vem encolhendo. A base de novos talentos está mais escassa do que a demanda por eles.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6088868" y="9710928"/>
            <a:ext cx="1371600" cy="411480"/>
            <a:chOff x="0" y="0"/>
            <a:chExt cx="1828800" cy="54864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828800" cy="548640"/>
            </a:xfrm>
            <a:custGeom>
              <a:avLst/>
              <a:gdLst/>
              <a:ahLst/>
              <a:cxnLst/>
              <a:rect r="r" b="b" t="t" l="l"/>
              <a:pathLst>
                <a:path h="548640" w="1828800">
                  <a:moveTo>
                    <a:pt x="0" y="0"/>
                  </a:moveTo>
                  <a:lnTo>
                    <a:pt x="1828800" y="0"/>
                  </a:lnTo>
                  <a:lnTo>
                    <a:pt x="18288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950" r="0" b="-14950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28575"/>
              <a:ext cx="18288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5B6B8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3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57150" y="1717700"/>
            <a:ext cx="8516541" cy="5730088"/>
            <a:chOff x="0" y="0"/>
            <a:chExt cx="11355388" cy="7640117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1355324" cy="7640066"/>
            </a:xfrm>
            <a:custGeom>
              <a:avLst/>
              <a:gdLst/>
              <a:ahLst/>
              <a:cxnLst/>
              <a:rect r="r" b="b" t="t" l="l"/>
              <a:pathLst>
                <a:path h="7640066" w="11355324">
                  <a:moveTo>
                    <a:pt x="0" y="0"/>
                  </a:moveTo>
                  <a:lnTo>
                    <a:pt x="11355324" y="0"/>
                  </a:lnTo>
                  <a:lnTo>
                    <a:pt x="11355324" y="7640066"/>
                  </a:lnTo>
                  <a:lnTo>
                    <a:pt x="0" y="764006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8583216" y="1710204"/>
            <a:ext cx="9619059" cy="4315425"/>
            <a:chOff x="0" y="0"/>
            <a:chExt cx="12825412" cy="57539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2825476" cy="5753862"/>
            </a:xfrm>
            <a:custGeom>
              <a:avLst/>
              <a:gdLst/>
              <a:ahLst/>
              <a:cxnLst/>
              <a:rect r="r" b="b" t="t" l="l"/>
              <a:pathLst>
                <a:path h="5753862" w="12825476">
                  <a:moveTo>
                    <a:pt x="0" y="0"/>
                  </a:moveTo>
                  <a:lnTo>
                    <a:pt x="12825476" y="0"/>
                  </a:lnTo>
                  <a:lnTo>
                    <a:pt x="12825476" y="5753862"/>
                  </a:lnTo>
                  <a:lnTo>
                    <a:pt x="0" y="575386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-1461" b="0"/>
              </a:stretch>
            </a:blipFill>
          </p:spPr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480060"/>
            <a:ext cx="10972800" cy="411480"/>
            <a:chOff x="0" y="0"/>
            <a:chExt cx="14630400" cy="5486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630400" cy="548640"/>
            </a:xfrm>
            <a:custGeom>
              <a:avLst/>
              <a:gdLst/>
              <a:ahLst/>
              <a:cxnLst/>
              <a:rect r="r" b="b" t="t" l="l"/>
              <a:pathLst>
                <a:path h="5486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9601" r="0" b="-469601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146304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b="true" sz="1650" spc="299">
                  <a:solidFill>
                    <a:srgbClr val="F2B13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PERGUNTA 1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731520" y="8237745"/>
            <a:ext cx="16596360" cy="1851660"/>
            <a:chOff x="0" y="0"/>
            <a:chExt cx="22128480" cy="246888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128480" cy="2468880"/>
            </a:xfrm>
            <a:custGeom>
              <a:avLst/>
              <a:gdLst/>
              <a:ahLst/>
              <a:cxnLst/>
              <a:rect r="r" b="b" t="t" l="l"/>
              <a:pathLst>
                <a:path h="2468880" w="2212848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21982176" y="0"/>
                  </a:lnTo>
                  <a:cubicBezTo>
                    <a:pt x="22062948" y="0"/>
                    <a:pt x="22128480" y="65532"/>
                    <a:pt x="22128480" y="146304"/>
                  </a:cubicBezTo>
                  <a:lnTo>
                    <a:pt x="22128480" y="2322576"/>
                  </a:lnTo>
                  <a:cubicBezTo>
                    <a:pt x="22128480" y="2403348"/>
                    <a:pt x="22062948" y="2468880"/>
                    <a:pt x="21982176" y="2468880"/>
                  </a:cubicBezTo>
                  <a:lnTo>
                    <a:pt x="146304" y="2468880"/>
                  </a:lnTo>
                  <a:cubicBezTo>
                    <a:pt x="65532" y="2468880"/>
                    <a:pt x="0" y="2403348"/>
                    <a:pt x="0" y="2322576"/>
                  </a:cubicBezTo>
                  <a:close/>
                </a:path>
              </a:pathLst>
            </a:custGeom>
            <a:solidFill>
              <a:srgbClr val="1E2761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16088868" y="9710928"/>
            <a:ext cx="1371600" cy="411480"/>
            <a:chOff x="0" y="0"/>
            <a:chExt cx="1828800" cy="54864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828800" cy="548640"/>
            </a:xfrm>
            <a:custGeom>
              <a:avLst/>
              <a:gdLst/>
              <a:ahLst/>
              <a:cxnLst/>
              <a:rect r="r" b="b" t="t" l="l"/>
              <a:pathLst>
                <a:path h="548640" w="1828800">
                  <a:moveTo>
                    <a:pt x="0" y="0"/>
                  </a:moveTo>
                  <a:lnTo>
                    <a:pt x="1828800" y="0"/>
                  </a:lnTo>
                  <a:lnTo>
                    <a:pt x="18288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950" r="0" b="-14950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28575"/>
              <a:ext cx="18288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5B6B8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3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303020" y="8361570"/>
            <a:ext cx="15636240" cy="1508760"/>
            <a:chOff x="0" y="0"/>
            <a:chExt cx="20848320" cy="201168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0848320" cy="2011680"/>
            </a:xfrm>
            <a:custGeom>
              <a:avLst/>
              <a:gdLst/>
              <a:ahLst/>
              <a:cxnLst/>
              <a:rect r="r" b="b" t="t" l="l"/>
              <a:pathLst>
                <a:path h="2011680" w="20848320">
                  <a:moveTo>
                    <a:pt x="0" y="0"/>
                  </a:moveTo>
                  <a:lnTo>
                    <a:pt x="20848320" y="0"/>
                  </a:lnTo>
                  <a:lnTo>
                    <a:pt x="20848320" y="2011680"/>
                  </a:lnTo>
                  <a:lnTo>
                    <a:pt x="0" y="2011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1935" r="0" b="-151935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47625"/>
              <a:ext cx="20848320" cy="20593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b="true">
                  <a:solidFill>
                    <a:srgbClr val="F2B13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Insight  </a:t>
              </a:r>
              <a:r>
                <a:rPr lang="en-US" sz="195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O mercado setorialmente é concentrado em finanças e tech (46,3%). Sobre o modelo de trabalho, o mercado atual está puxando os profissionais para formatos mais estruturados (presencial/hibrido) em uma velocidade maior que a preferência, configurando um gap entre oque os profissionais querem e o que se prática.</a:t>
              </a: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0">
            <a:off x="2695582" y="1469517"/>
            <a:ext cx="12668236" cy="6559331"/>
          </a:xfrm>
          <a:custGeom>
            <a:avLst/>
            <a:gdLst/>
            <a:ahLst/>
            <a:cxnLst/>
            <a:rect r="r" b="b" t="t" l="l"/>
            <a:pathLst>
              <a:path h="6559331" w="12668236">
                <a:moveTo>
                  <a:pt x="0" y="0"/>
                </a:moveTo>
                <a:lnTo>
                  <a:pt x="12668236" y="0"/>
                </a:lnTo>
                <a:lnTo>
                  <a:pt x="12668236" y="6559331"/>
                </a:lnTo>
                <a:lnTo>
                  <a:pt x="0" y="655933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914400" y="867537"/>
            <a:ext cx="16413480" cy="13087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58"/>
              </a:lnSpc>
            </a:pPr>
            <a:r>
              <a:rPr lang="en-US" sz="3300" b="true">
                <a:solidFill>
                  <a:srgbClr val="1E2761"/>
                </a:solidFill>
                <a:latin typeface="Cambria Bold"/>
                <a:ea typeface="Cambria Bold"/>
                <a:cs typeface="Cambria Bold"/>
                <a:sym typeface="Cambria Bold"/>
              </a:rPr>
              <a:t>Como está estruturado o mercado brasileiro de Dados?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480060"/>
            <a:ext cx="10972800" cy="411480"/>
            <a:chOff x="0" y="0"/>
            <a:chExt cx="14630400" cy="5486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630400" cy="548640"/>
            </a:xfrm>
            <a:custGeom>
              <a:avLst/>
              <a:gdLst/>
              <a:ahLst/>
              <a:cxnLst/>
              <a:rect r="r" b="b" t="t" l="l"/>
              <a:pathLst>
                <a:path h="5486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9601" r="0" b="-469601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146304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b="true" sz="1650" spc="299">
                  <a:solidFill>
                    <a:srgbClr val="F2B13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PERGUNTA 2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914400" y="867537"/>
            <a:ext cx="16413480" cy="13087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58"/>
              </a:lnSpc>
            </a:pPr>
            <a:r>
              <a:rPr lang="en-US" sz="3300" b="true">
                <a:solidFill>
                  <a:srgbClr val="1E2761"/>
                </a:solidFill>
                <a:latin typeface="Cambria Bold"/>
                <a:ea typeface="Cambria Bold"/>
                <a:cs typeface="Cambria Bold"/>
                <a:sym typeface="Cambria Bold"/>
              </a:rPr>
              <a:t>Quais perfis profissionais são mais valorizados pelo mercado?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822960" y="7612380"/>
            <a:ext cx="16596360" cy="1851660"/>
            <a:chOff x="0" y="0"/>
            <a:chExt cx="22128480" cy="246888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2128480" cy="2468880"/>
            </a:xfrm>
            <a:custGeom>
              <a:avLst/>
              <a:gdLst/>
              <a:ahLst/>
              <a:cxnLst/>
              <a:rect r="r" b="b" t="t" l="l"/>
              <a:pathLst>
                <a:path h="2468880" w="2212848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21982176" y="0"/>
                  </a:lnTo>
                  <a:cubicBezTo>
                    <a:pt x="22062948" y="0"/>
                    <a:pt x="22128480" y="65532"/>
                    <a:pt x="22128480" y="146304"/>
                  </a:cubicBezTo>
                  <a:lnTo>
                    <a:pt x="22128480" y="2322576"/>
                  </a:lnTo>
                  <a:cubicBezTo>
                    <a:pt x="22128480" y="2403348"/>
                    <a:pt x="22062948" y="2468880"/>
                    <a:pt x="21982176" y="2468880"/>
                  </a:cubicBezTo>
                  <a:lnTo>
                    <a:pt x="146304" y="2468880"/>
                  </a:lnTo>
                  <a:cubicBezTo>
                    <a:pt x="65532" y="2468880"/>
                    <a:pt x="0" y="2403348"/>
                    <a:pt x="0" y="2322576"/>
                  </a:cubicBezTo>
                  <a:close/>
                </a:path>
              </a:pathLst>
            </a:custGeom>
            <a:solidFill>
              <a:srgbClr val="1E2761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303020" y="7790688"/>
            <a:ext cx="15636240" cy="1508760"/>
            <a:chOff x="0" y="0"/>
            <a:chExt cx="20848320" cy="201168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0848320" cy="2011680"/>
            </a:xfrm>
            <a:custGeom>
              <a:avLst/>
              <a:gdLst/>
              <a:ahLst/>
              <a:cxnLst/>
              <a:rect r="r" b="b" t="t" l="l"/>
              <a:pathLst>
                <a:path h="2011680" w="20848320">
                  <a:moveTo>
                    <a:pt x="0" y="0"/>
                  </a:moveTo>
                  <a:lnTo>
                    <a:pt x="20848320" y="0"/>
                  </a:lnTo>
                  <a:lnTo>
                    <a:pt x="20848320" y="2011680"/>
                  </a:lnTo>
                  <a:lnTo>
                    <a:pt x="0" y="2011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1935" r="0" b="-151935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20848320" cy="20593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b="true">
                  <a:solidFill>
                    <a:srgbClr val="F2B13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Insight  </a:t>
              </a:r>
              <a:r>
                <a:rPr lang="en-US" sz="195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Enquanto o salário por senioridade oscila ano a ano (com recuo do Sênior em 2025), o salário por tempo de experiência cresce de forma consistente e acumulativa, sugerindo que tempo de carreira é um indicador mais estável de valorização do que o título de senioridade isolado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6088868" y="9710928"/>
            <a:ext cx="1371600" cy="411480"/>
            <a:chOff x="0" y="0"/>
            <a:chExt cx="1828800" cy="54864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828800" cy="548640"/>
            </a:xfrm>
            <a:custGeom>
              <a:avLst/>
              <a:gdLst/>
              <a:ahLst/>
              <a:cxnLst/>
              <a:rect r="r" b="b" t="t" l="l"/>
              <a:pathLst>
                <a:path h="548640" w="1828800">
                  <a:moveTo>
                    <a:pt x="0" y="0"/>
                  </a:moveTo>
                  <a:lnTo>
                    <a:pt x="1828800" y="0"/>
                  </a:lnTo>
                  <a:lnTo>
                    <a:pt x="18288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950" r="0" b="-14950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28575"/>
              <a:ext cx="18288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5B6B8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4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9144000" y="1943510"/>
            <a:ext cx="8216456" cy="5229958"/>
            <a:chOff x="0" y="0"/>
            <a:chExt cx="10955274" cy="697327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0955274" cy="6973316"/>
            </a:xfrm>
            <a:custGeom>
              <a:avLst/>
              <a:gdLst/>
              <a:ahLst/>
              <a:cxnLst/>
              <a:rect r="r" b="b" t="t" l="l"/>
              <a:pathLst>
                <a:path h="6973316" w="10955274">
                  <a:moveTo>
                    <a:pt x="0" y="0"/>
                  </a:moveTo>
                  <a:lnTo>
                    <a:pt x="10955274" y="0"/>
                  </a:lnTo>
                  <a:lnTo>
                    <a:pt x="10955274" y="6973316"/>
                  </a:lnTo>
                  <a:lnTo>
                    <a:pt x="0" y="69733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439941" y="1943510"/>
            <a:ext cx="8416509" cy="4686957"/>
            <a:chOff x="0" y="0"/>
            <a:chExt cx="11222012" cy="6249276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1221974" cy="6249289"/>
            </a:xfrm>
            <a:custGeom>
              <a:avLst/>
              <a:gdLst/>
              <a:ahLst/>
              <a:cxnLst/>
              <a:rect r="r" b="b" t="t" l="l"/>
              <a:pathLst>
                <a:path h="6249289" w="11221974">
                  <a:moveTo>
                    <a:pt x="0" y="0"/>
                  </a:moveTo>
                  <a:lnTo>
                    <a:pt x="11221974" y="0"/>
                  </a:lnTo>
                  <a:lnTo>
                    <a:pt x="11221974" y="6249289"/>
                  </a:lnTo>
                  <a:lnTo>
                    <a:pt x="0" y="624928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480060"/>
            <a:ext cx="10972800" cy="411480"/>
            <a:chOff x="0" y="0"/>
            <a:chExt cx="14630400" cy="5486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630400" cy="548640"/>
            </a:xfrm>
            <a:custGeom>
              <a:avLst/>
              <a:gdLst/>
              <a:ahLst/>
              <a:cxnLst/>
              <a:rect r="r" b="b" t="t" l="l"/>
              <a:pathLst>
                <a:path h="5486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9601" r="0" b="-469601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146304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b="true" sz="1650" spc="299">
                  <a:solidFill>
                    <a:srgbClr val="F2B13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PERGUNTA 3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914400" y="867537"/>
            <a:ext cx="16413480" cy="13087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58"/>
              </a:lnSpc>
            </a:pPr>
            <a:r>
              <a:rPr lang="en-US" sz="3300" b="true">
                <a:solidFill>
                  <a:srgbClr val="1E2761"/>
                </a:solidFill>
                <a:latin typeface="Cambria Bold"/>
                <a:ea typeface="Cambria Bold"/>
                <a:cs typeface="Cambria Bold"/>
                <a:sym typeface="Cambria Bold"/>
              </a:rPr>
              <a:t>Qual é o cenário de diversidade nas carreiras de dados?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822960" y="7612380"/>
            <a:ext cx="16596360" cy="1851660"/>
            <a:chOff x="0" y="0"/>
            <a:chExt cx="22128480" cy="246888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2128480" cy="2468880"/>
            </a:xfrm>
            <a:custGeom>
              <a:avLst/>
              <a:gdLst/>
              <a:ahLst/>
              <a:cxnLst/>
              <a:rect r="r" b="b" t="t" l="l"/>
              <a:pathLst>
                <a:path h="2468880" w="2212848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21982176" y="0"/>
                  </a:lnTo>
                  <a:cubicBezTo>
                    <a:pt x="22062948" y="0"/>
                    <a:pt x="22128480" y="65532"/>
                    <a:pt x="22128480" y="146304"/>
                  </a:cubicBezTo>
                  <a:lnTo>
                    <a:pt x="22128480" y="2322576"/>
                  </a:lnTo>
                  <a:cubicBezTo>
                    <a:pt x="22128480" y="2403348"/>
                    <a:pt x="22062948" y="2468880"/>
                    <a:pt x="21982176" y="2468880"/>
                  </a:cubicBezTo>
                  <a:lnTo>
                    <a:pt x="146304" y="2468880"/>
                  </a:lnTo>
                  <a:cubicBezTo>
                    <a:pt x="65532" y="2468880"/>
                    <a:pt x="0" y="2403348"/>
                    <a:pt x="0" y="2322576"/>
                  </a:cubicBezTo>
                  <a:close/>
                </a:path>
              </a:pathLst>
            </a:custGeom>
            <a:solidFill>
              <a:srgbClr val="1E2761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303020" y="7790688"/>
            <a:ext cx="15636240" cy="1508760"/>
            <a:chOff x="0" y="0"/>
            <a:chExt cx="20848320" cy="201168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0848320" cy="2011680"/>
            </a:xfrm>
            <a:custGeom>
              <a:avLst/>
              <a:gdLst/>
              <a:ahLst/>
              <a:cxnLst/>
              <a:rect r="r" b="b" t="t" l="l"/>
              <a:pathLst>
                <a:path h="2011680" w="20848320">
                  <a:moveTo>
                    <a:pt x="0" y="0"/>
                  </a:moveTo>
                  <a:lnTo>
                    <a:pt x="20848320" y="0"/>
                  </a:lnTo>
                  <a:lnTo>
                    <a:pt x="20848320" y="2011680"/>
                  </a:lnTo>
                  <a:lnTo>
                    <a:pt x="0" y="2011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1935" r="0" b="-151935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76200"/>
              <a:ext cx="20848320" cy="20878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90"/>
                </a:lnSpc>
              </a:pPr>
              <a:r>
                <a:rPr lang="en-US" sz="1950" b="true">
                  <a:solidFill>
                    <a:srgbClr val="F2B13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Insight  </a:t>
              </a:r>
              <a:r>
                <a:rPr lang="en-US" sz="195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Quanto maior a senioridade, menor a representatividade de pretos e pardos e o gap salarial de gênero aparece em todos os níveis hierárquicos. Diversidade racial e equidade de gênero precisam ser metas estratégicas, não apenas pautas de RH.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6088868" y="9710928"/>
            <a:ext cx="1371600" cy="411480"/>
            <a:chOff x="0" y="0"/>
            <a:chExt cx="1828800" cy="54864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828800" cy="548640"/>
            </a:xfrm>
            <a:custGeom>
              <a:avLst/>
              <a:gdLst/>
              <a:ahLst/>
              <a:cxnLst/>
              <a:rect r="r" b="b" t="t" l="l"/>
              <a:pathLst>
                <a:path h="548640" w="1828800">
                  <a:moveTo>
                    <a:pt x="0" y="0"/>
                  </a:moveTo>
                  <a:lnTo>
                    <a:pt x="1828800" y="0"/>
                  </a:lnTo>
                  <a:lnTo>
                    <a:pt x="18288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950" r="0" b="-14950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28575"/>
              <a:ext cx="18288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5B6B8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5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37160" y="2115531"/>
            <a:ext cx="8216456" cy="4844139"/>
            <a:chOff x="0" y="0"/>
            <a:chExt cx="10955274" cy="6458852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0955274" cy="6458839"/>
            </a:xfrm>
            <a:custGeom>
              <a:avLst/>
              <a:gdLst/>
              <a:ahLst/>
              <a:cxnLst/>
              <a:rect r="r" b="b" t="t" l="l"/>
              <a:pathLst>
                <a:path h="6458839" w="10955274">
                  <a:moveTo>
                    <a:pt x="0" y="0"/>
                  </a:moveTo>
                  <a:lnTo>
                    <a:pt x="10955274" y="0"/>
                  </a:lnTo>
                  <a:lnTo>
                    <a:pt x="10955274" y="6458839"/>
                  </a:lnTo>
                  <a:lnTo>
                    <a:pt x="0" y="64588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8356797" y="2115531"/>
            <a:ext cx="9931203" cy="4772692"/>
            <a:chOff x="0" y="0"/>
            <a:chExt cx="13241604" cy="6363589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3241655" cy="6363589"/>
            </a:xfrm>
            <a:custGeom>
              <a:avLst/>
              <a:gdLst/>
              <a:ahLst/>
              <a:cxnLst/>
              <a:rect r="r" b="b" t="t" l="l"/>
              <a:pathLst>
                <a:path h="6363589" w="13241655">
                  <a:moveTo>
                    <a:pt x="0" y="0"/>
                  </a:moveTo>
                  <a:lnTo>
                    <a:pt x="13241655" y="0"/>
                  </a:lnTo>
                  <a:lnTo>
                    <a:pt x="13241655" y="6363589"/>
                  </a:lnTo>
                  <a:lnTo>
                    <a:pt x="0" y="636358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480060"/>
            <a:ext cx="10972800" cy="411480"/>
            <a:chOff x="0" y="0"/>
            <a:chExt cx="14630400" cy="5486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630400" cy="548640"/>
            </a:xfrm>
            <a:custGeom>
              <a:avLst/>
              <a:gdLst/>
              <a:ahLst/>
              <a:cxnLst/>
              <a:rect r="r" b="b" t="t" l="l"/>
              <a:pathLst>
                <a:path h="5486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9601" r="0" b="-469601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146304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b="true" sz="1650" spc="299">
                  <a:solidFill>
                    <a:srgbClr val="F2B13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PERGUNTA 4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22960" y="8480895"/>
            <a:ext cx="16596360" cy="1220508"/>
            <a:chOff x="0" y="0"/>
            <a:chExt cx="22128480" cy="162734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128480" cy="1627344"/>
            </a:xfrm>
            <a:custGeom>
              <a:avLst/>
              <a:gdLst/>
              <a:ahLst/>
              <a:cxnLst/>
              <a:rect r="r" b="b" t="t" l="l"/>
              <a:pathLst>
                <a:path h="1627344" w="22128480">
                  <a:moveTo>
                    <a:pt x="0" y="96435"/>
                  </a:moveTo>
                  <a:cubicBezTo>
                    <a:pt x="0" y="43195"/>
                    <a:pt x="65532" y="0"/>
                    <a:pt x="146304" y="0"/>
                  </a:cubicBezTo>
                  <a:lnTo>
                    <a:pt x="21982176" y="0"/>
                  </a:lnTo>
                  <a:cubicBezTo>
                    <a:pt x="22062948" y="0"/>
                    <a:pt x="22128480" y="43195"/>
                    <a:pt x="22128480" y="96435"/>
                  </a:cubicBezTo>
                  <a:lnTo>
                    <a:pt x="22128480" y="1530909"/>
                  </a:lnTo>
                  <a:cubicBezTo>
                    <a:pt x="22128480" y="1584149"/>
                    <a:pt x="22062948" y="1627344"/>
                    <a:pt x="21982176" y="1627344"/>
                  </a:cubicBezTo>
                  <a:lnTo>
                    <a:pt x="146304" y="1627344"/>
                  </a:lnTo>
                  <a:cubicBezTo>
                    <a:pt x="65532" y="1627344"/>
                    <a:pt x="0" y="1584149"/>
                    <a:pt x="0" y="1530909"/>
                  </a:cubicBezTo>
                  <a:close/>
                </a:path>
              </a:pathLst>
            </a:custGeom>
            <a:solidFill>
              <a:srgbClr val="1E2761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1303020" y="8536117"/>
            <a:ext cx="15636240" cy="1110065"/>
            <a:chOff x="0" y="0"/>
            <a:chExt cx="20848320" cy="1480086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0848320" cy="1480086"/>
            </a:xfrm>
            <a:custGeom>
              <a:avLst/>
              <a:gdLst/>
              <a:ahLst/>
              <a:cxnLst/>
              <a:rect r="r" b="b" t="t" l="l"/>
              <a:pathLst>
                <a:path h="1480086" w="20848320">
                  <a:moveTo>
                    <a:pt x="0" y="0"/>
                  </a:moveTo>
                  <a:lnTo>
                    <a:pt x="20848320" y="0"/>
                  </a:lnTo>
                  <a:lnTo>
                    <a:pt x="20848320" y="1480086"/>
                  </a:lnTo>
                  <a:lnTo>
                    <a:pt x="0" y="148008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6505" r="0" b="-242422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47625"/>
              <a:ext cx="20848320" cy="152771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just">
                <a:lnSpc>
                  <a:spcPts val="2340"/>
                </a:lnSpc>
              </a:pPr>
              <a:r>
                <a:rPr lang="en-US" sz="1950" b="true">
                  <a:solidFill>
                    <a:srgbClr val="F2B13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Insight  </a:t>
              </a:r>
              <a:r>
                <a:rPr lang="en-US" sz="195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Python e SQL concentram 86% das menções, muito à frente de qualquer outra linguagem. Na nuvem, AWS, Azure e GCP somam 84% da infraestrutura, com AWS na liderança. Em ambas as frentes, o mercado converge para poucos padrões dominantes. Padronizar a stack técnica nesses três pilares reduz custo e dispersão de treinamento.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6088868" y="9710928"/>
            <a:ext cx="1371600" cy="411480"/>
            <a:chOff x="0" y="0"/>
            <a:chExt cx="1828800" cy="54864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828800" cy="548640"/>
            </a:xfrm>
            <a:custGeom>
              <a:avLst/>
              <a:gdLst/>
              <a:ahLst/>
              <a:cxnLst/>
              <a:rect r="r" b="b" t="t" l="l"/>
              <a:pathLst>
                <a:path h="548640" w="1828800">
                  <a:moveTo>
                    <a:pt x="0" y="0"/>
                  </a:moveTo>
                  <a:lnTo>
                    <a:pt x="1828800" y="0"/>
                  </a:lnTo>
                  <a:lnTo>
                    <a:pt x="18288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950" r="0" b="-14950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28575"/>
              <a:ext cx="18288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5B6B8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6</a:t>
              </a: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0">
            <a:off x="2447313" y="1545717"/>
            <a:ext cx="13429950" cy="6783147"/>
          </a:xfrm>
          <a:custGeom>
            <a:avLst/>
            <a:gdLst/>
            <a:ahLst/>
            <a:cxnLst/>
            <a:rect r="r" b="b" t="t" l="l"/>
            <a:pathLst>
              <a:path h="6783147" w="13429950">
                <a:moveTo>
                  <a:pt x="0" y="0"/>
                </a:moveTo>
                <a:lnTo>
                  <a:pt x="13429950" y="0"/>
                </a:lnTo>
                <a:lnTo>
                  <a:pt x="13429950" y="6783147"/>
                </a:lnTo>
                <a:lnTo>
                  <a:pt x="0" y="678314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914400" y="867537"/>
            <a:ext cx="16413480" cy="13087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58"/>
              </a:lnSpc>
            </a:pPr>
            <a:r>
              <a:rPr lang="en-US" sz="3300" b="true">
                <a:solidFill>
                  <a:srgbClr val="1E2761"/>
                </a:solidFill>
                <a:latin typeface="Cambria Bold"/>
                <a:ea typeface="Cambria Bold"/>
                <a:cs typeface="Cambria Bold"/>
                <a:sym typeface="Cambria Bold"/>
              </a:rPr>
              <a:t>Quais tecnologias apresentam maior adoção entre os profissionais?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480060"/>
            <a:ext cx="10972800" cy="411480"/>
            <a:chOff x="0" y="0"/>
            <a:chExt cx="14630400" cy="5486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630400" cy="548640"/>
            </a:xfrm>
            <a:custGeom>
              <a:avLst/>
              <a:gdLst/>
              <a:ahLst/>
              <a:cxnLst/>
              <a:rect r="r" b="b" t="t" l="l"/>
              <a:pathLst>
                <a:path h="5486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9601" r="0" b="-469601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146304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b="true" sz="1650" spc="299">
                  <a:solidFill>
                    <a:srgbClr val="F2B13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PERGUNTA 5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914400" y="867537"/>
            <a:ext cx="16413480" cy="13087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58"/>
              </a:lnSpc>
            </a:pPr>
            <a:r>
              <a:rPr lang="en-US" sz="3300" b="true">
                <a:solidFill>
                  <a:srgbClr val="1E2761"/>
                </a:solidFill>
                <a:latin typeface="Cambria Bold"/>
                <a:ea typeface="Cambria Bold"/>
                <a:cs typeface="Cambria Bold"/>
                <a:sym typeface="Cambria Bold"/>
              </a:rPr>
              <a:t>Qual é o índice de adoção de Inteligência Artificial e seu impacto?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822960" y="7612380"/>
            <a:ext cx="16596360" cy="1851660"/>
            <a:chOff x="0" y="0"/>
            <a:chExt cx="22128480" cy="246888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2128480" cy="2468880"/>
            </a:xfrm>
            <a:custGeom>
              <a:avLst/>
              <a:gdLst/>
              <a:ahLst/>
              <a:cxnLst/>
              <a:rect r="r" b="b" t="t" l="l"/>
              <a:pathLst>
                <a:path h="2468880" w="2212848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21982176" y="0"/>
                  </a:lnTo>
                  <a:cubicBezTo>
                    <a:pt x="22062948" y="0"/>
                    <a:pt x="22128480" y="65532"/>
                    <a:pt x="22128480" y="146304"/>
                  </a:cubicBezTo>
                  <a:lnTo>
                    <a:pt x="22128480" y="2322576"/>
                  </a:lnTo>
                  <a:cubicBezTo>
                    <a:pt x="22128480" y="2403348"/>
                    <a:pt x="22062948" y="2468880"/>
                    <a:pt x="21982176" y="2468880"/>
                  </a:cubicBezTo>
                  <a:lnTo>
                    <a:pt x="146304" y="2468880"/>
                  </a:lnTo>
                  <a:cubicBezTo>
                    <a:pt x="65532" y="2468880"/>
                    <a:pt x="0" y="2403348"/>
                    <a:pt x="0" y="2322576"/>
                  </a:cubicBezTo>
                  <a:close/>
                </a:path>
              </a:pathLst>
            </a:custGeom>
            <a:solidFill>
              <a:srgbClr val="1E2761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303020" y="7790688"/>
            <a:ext cx="15636240" cy="1508760"/>
            <a:chOff x="0" y="0"/>
            <a:chExt cx="20848320" cy="201168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0848320" cy="2011680"/>
            </a:xfrm>
            <a:custGeom>
              <a:avLst/>
              <a:gdLst/>
              <a:ahLst/>
              <a:cxnLst/>
              <a:rect r="r" b="b" t="t" l="l"/>
              <a:pathLst>
                <a:path h="2011680" w="20848320">
                  <a:moveTo>
                    <a:pt x="0" y="0"/>
                  </a:moveTo>
                  <a:lnTo>
                    <a:pt x="20848320" y="0"/>
                  </a:lnTo>
                  <a:lnTo>
                    <a:pt x="20848320" y="2011680"/>
                  </a:lnTo>
                  <a:lnTo>
                    <a:pt x="0" y="2011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1935" r="0" b="-151935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76200"/>
              <a:ext cx="20848320" cy="20878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just">
                <a:lnSpc>
                  <a:spcPts val="2690"/>
                </a:lnSpc>
              </a:pPr>
              <a:r>
                <a:rPr lang="en-US" sz="1950" b="true">
                  <a:solidFill>
                    <a:srgbClr val="F2B13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Insight  </a:t>
              </a:r>
              <a:r>
                <a:rPr lang="en-US" sz="195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 prioridade estratégica de IA cresce ano a ano, mas o investimento ainda não acompanha: quase metade dos profissionais usa IA de forma gratuita e individual. Formalizar o licenciamento corporativo é o próximo passo para transformar discurso em capacidade real.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6088868" y="9710928"/>
            <a:ext cx="1371600" cy="411480"/>
            <a:chOff x="0" y="0"/>
            <a:chExt cx="1828800" cy="54864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828800" cy="548640"/>
            </a:xfrm>
            <a:custGeom>
              <a:avLst/>
              <a:gdLst/>
              <a:ahLst/>
              <a:cxnLst/>
              <a:rect r="r" b="b" t="t" l="l"/>
              <a:pathLst>
                <a:path h="548640" w="1828800">
                  <a:moveTo>
                    <a:pt x="0" y="0"/>
                  </a:moveTo>
                  <a:lnTo>
                    <a:pt x="1828800" y="0"/>
                  </a:lnTo>
                  <a:lnTo>
                    <a:pt x="18288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950" r="0" b="-14950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28575"/>
              <a:ext cx="18288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5B6B8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7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8767915" y="2095109"/>
            <a:ext cx="8830904" cy="4686957"/>
            <a:chOff x="0" y="0"/>
            <a:chExt cx="11774538" cy="6249276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1774551" cy="6249289"/>
            </a:xfrm>
            <a:custGeom>
              <a:avLst/>
              <a:gdLst/>
              <a:ahLst/>
              <a:cxnLst/>
              <a:rect r="r" b="b" t="t" l="l"/>
              <a:pathLst>
                <a:path h="6249289" w="11774551">
                  <a:moveTo>
                    <a:pt x="0" y="0"/>
                  </a:moveTo>
                  <a:lnTo>
                    <a:pt x="11774551" y="0"/>
                  </a:lnTo>
                  <a:lnTo>
                    <a:pt x="11774551" y="6249289"/>
                  </a:lnTo>
                  <a:lnTo>
                    <a:pt x="0" y="624928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822960" y="2095109"/>
            <a:ext cx="7944955" cy="4186819"/>
            <a:chOff x="0" y="0"/>
            <a:chExt cx="10593273" cy="5582425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0593324" cy="5582412"/>
            </a:xfrm>
            <a:custGeom>
              <a:avLst/>
              <a:gdLst/>
              <a:ahLst/>
              <a:cxnLst/>
              <a:rect r="r" b="b" t="t" l="l"/>
              <a:pathLst>
                <a:path h="5582412" w="10593324">
                  <a:moveTo>
                    <a:pt x="0" y="0"/>
                  </a:moveTo>
                  <a:lnTo>
                    <a:pt x="10593324" y="0"/>
                  </a:lnTo>
                  <a:lnTo>
                    <a:pt x="10593324" y="5582412"/>
                  </a:lnTo>
                  <a:lnTo>
                    <a:pt x="0" y="55824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480060"/>
            <a:ext cx="10972800" cy="411480"/>
            <a:chOff x="0" y="0"/>
            <a:chExt cx="14630400" cy="5486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630400" cy="548640"/>
            </a:xfrm>
            <a:custGeom>
              <a:avLst/>
              <a:gdLst/>
              <a:ahLst/>
              <a:cxnLst/>
              <a:rect r="r" b="b" t="t" l="l"/>
              <a:pathLst>
                <a:path h="5486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9601" r="0" b="-469601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146304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b="true" sz="1650" spc="299">
                  <a:solidFill>
                    <a:srgbClr val="F2B13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PERGUNTA 6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914400" y="867537"/>
            <a:ext cx="16413480" cy="13087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58"/>
              </a:lnSpc>
            </a:pPr>
            <a:r>
              <a:rPr lang="en-US" sz="3300" b="true">
                <a:solidFill>
                  <a:srgbClr val="1E2761"/>
                </a:solidFill>
                <a:latin typeface="Cambria Bold"/>
                <a:ea typeface="Cambria Bold"/>
                <a:cs typeface="Cambria Bold"/>
                <a:sym typeface="Cambria Bold"/>
              </a:rPr>
              <a:t>Existem diferenças relevantes entre regiões, senioridades ou modelos de trabalho?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822960" y="7612380"/>
            <a:ext cx="16596360" cy="1851660"/>
            <a:chOff x="0" y="0"/>
            <a:chExt cx="22128480" cy="246888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2128480" cy="2468880"/>
            </a:xfrm>
            <a:custGeom>
              <a:avLst/>
              <a:gdLst/>
              <a:ahLst/>
              <a:cxnLst/>
              <a:rect r="r" b="b" t="t" l="l"/>
              <a:pathLst>
                <a:path h="2468880" w="2212848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21982176" y="0"/>
                  </a:lnTo>
                  <a:cubicBezTo>
                    <a:pt x="22062948" y="0"/>
                    <a:pt x="22128480" y="65532"/>
                    <a:pt x="22128480" y="146304"/>
                  </a:cubicBezTo>
                  <a:lnTo>
                    <a:pt x="22128480" y="2322576"/>
                  </a:lnTo>
                  <a:cubicBezTo>
                    <a:pt x="22128480" y="2403348"/>
                    <a:pt x="22062948" y="2468880"/>
                    <a:pt x="21982176" y="2468880"/>
                  </a:cubicBezTo>
                  <a:lnTo>
                    <a:pt x="146304" y="2468880"/>
                  </a:lnTo>
                  <a:cubicBezTo>
                    <a:pt x="65532" y="2468880"/>
                    <a:pt x="0" y="2403348"/>
                    <a:pt x="0" y="2322576"/>
                  </a:cubicBezTo>
                  <a:close/>
                </a:path>
              </a:pathLst>
            </a:custGeom>
            <a:solidFill>
              <a:srgbClr val="1E2761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303020" y="7790688"/>
            <a:ext cx="15636240" cy="1508760"/>
            <a:chOff x="0" y="0"/>
            <a:chExt cx="20848320" cy="201168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0848320" cy="2011680"/>
            </a:xfrm>
            <a:custGeom>
              <a:avLst/>
              <a:gdLst/>
              <a:ahLst/>
              <a:cxnLst/>
              <a:rect r="r" b="b" t="t" l="l"/>
              <a:pathLst>
                <a:path h="2011680" w="20848320">
                  <a:moveTo>
                    <a:pt x="0" y="0"/>
                  </a:moveTo>
                  <a:lnTo>
                    <a:pt x="20848320" y="0"/>
                  </a:lnTo>
                  <a:lnTo>
                    <a:pt x="20848320" y="2011680"/>
                  </a:lnTo>
                  <a:lnTo>
                    <a:pt x="0" y="2011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1935" r="0" b="-151935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76200"/>
              <a:ext cx="20848320" cy="20878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just">
                <a:lnSpc>
                  <a:spcPts val="2690"/>
                </a:lnSpc>
              </a:pPr>
              <a:r>
                <a:rPr lang="en-US" sz="1950" b="true">
                  <a:solidFill>
                    <a:srgbClr val="F2B13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Insight </a:t>
              </a:r>
              <a:r>
                <a:rPr lang="en-US" sz="195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O modelo 100% presencial paga a menor média salarial em todas as senioridades, reforçando que o modelo de trabalho influencia diretamente na remuneração. Chama atenção também que o Norte, e não o Sudeste (polo histórico de tecnologia), lidera a remuneração regional entre Seniores, sugerindo que a escassez de talento local pesa mais que a concentração de empresas. Diante disso, exigir presencial integral é um risco real de perda de talento, enquanto manter hibridez se torna uma vantagem competitiva de atração e retenção.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6088868" y="9710928"/>
            <a:ext cx="1371600" cy="411480"/>
            <a:chOff x="0" y="0"/>
            <a:chExt cx="1828800" cy="54864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828800" cy="548640"/>
            </a:xfrm>
            <a:custGeom>
              <a:avLst/>
              <a:gdLst/>
              <a:ahLst/>
              <a:cxnLst/>
              <a:rect r="r" b="b" t="t" l="l"/>
              <a:pathLst>
                <a:path h="548640" w="1828800">
                  <a:moveTo>
                    <a:pt x="0" y="0"/>
                  </a:moveTo>
                  <a:lnTo>
                    <a:pt x="1828800" y="0"/>
                  </a:lnTo>
                  <a:lnTo>
                    <a:pt x="18288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950" r="0" b="-14950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28575"/>
              <a:ext cx="18288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5B6B8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8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1059" y="2221992"/>
            <a:ext cx="9359636" cy="4858426"/>
            <a:chOff x="0" y="0"/>
            <a:chExt cx="12479515" cy="6477902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2479528" cy="6477889"/>
            </a:xfrm>
            <a:custGeom>
              <a:avLst/>
              <a:gdLst/>
              <a:ahLst/>
              <a:cxnLst/>
              <a:rect r="r" b="b" t="t" l="l"/>
              <a:pathLst>
                <a:path h="6477889" w="12479528">
                  <a:moveTo>
                    <a:pt x="0" y="0"/>
                  </a:moveTo>
                  <a:lnTo>
                    <a:pt x="12479528" y="0"/>
                  </a:lnTo>
                  <a:lnTo>
                    <a:pt x="12479528" y="6477889"/>
                  </a:lnTo>
                  <a:lnTo>
                    <a:pt x="0" y="647788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1221" b="0"/>
              </a:stretch>
            </a:blip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9467850" y="2235537"/>
            <a:ext cx="8763000" cy="4901298"/>
            <a:chOff x="0" y="0"/>
            <a:chExt cx="11684000" cy="6535064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1684000" cy="6535039"/>
            </a:xfrm>
            <a:custGeom>
              <a:avLst/>
              <a:gdLst/>
              <a:ahLst/>
              <a:cxnLst/>
              <a:rect r="r" b="b" t="t" l="l"/>
              <a:pathLst>
                <a:path h="6535039" w="11684000">
                  <a:moveTo>
                    <a:pt x="0" y="0"/>
                  </a:moveTo>
                  <a:lnTo>
                    <a:pt x="11684000" y="0"/>
                  </a:lnTo>
                  <a:lnTo>
                    <a:pt x="11684000" y="6535039"/>
                  </a:lnTo>
                  <a:lnTo>
                    <a:pt x="0" y="65350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2174" t="0" r="-2351" b="0"/>
              </a:stretch>
            </a:blipFill>
          </p:spPr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480060"/>
            <a:ext cx="10972800" cy="411480"/>
            <a:chOff x="0" y="0"/>
            <a:chExt cx="14630400" cy="5486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630400" cy="548640"/>
            </a:xfrm>
            <a:custGeom>
              <a:avLst/>
              <a:gdLst/>
              <a:ahLst/>
              <a:cxnLst/>
              <a:rect r="r" b="b" t="t" l="l"/>
              <a:pathLst>
                <a:path h="5486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9601" r="0" b="-469601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146304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b="true" sz="1650" spc="299">
                  <a:solidFill>
                    <a:srgbClr val="F2B13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PERGUNTA 7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914400" y="867537"/>
            <a:ext cx="16413480" cy="13087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58"/>
              </a:lnSpc>
            </a:pPr>
            <a:r>
              <a:rPr lang="en-US" sz="3300" b="true">
                <a:solidFill>
                  <a:srgbClr val="1E2761"/>
                </a:solidFill>
                <a:latin typeface="Cambria Bold"/>
                <a:ea typeface="Cambria Bold"/>
                <a:cs typeface="Cambria Bold"/>
                <a:sym typeface="Cambria Bold"/>
              </a:rPr>
              <a:t>Quais oportunidades e desafios podem ser identificados para empresas que desejam investir em Dados e IA?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822960" y="7612380"/>
            <a:ext cx="16596360" cy="1851660"/>
            <a:chOff x="0" y="0"/>
            <a:chExt cx="22128480" cy="246888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2128480" cy="2468880"/>
            </a:xfrm>
            <a:custGeom>
              <a:avLst/>
              <a:gdLst/>
              <a:ahLst/>
              <a:cxnLst/>
              <a:rect r="r" b="b" t="t" l="l"/>
              <a:pathLst>
                <a:path h="2468880" w="2212848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21982176" y="0"/>
                  </a:lnTo>
                  <a:cubicBezTo>
                    <a:pt x="22062948" y="0"/>
                    <a:pt x="22128480" y="65532"/>
                    <a:pt x="22128480" y="146304"/>
                  </a:cubicBezTo>
                  <a:lnTo>
                    <a:pt x="22128480" y="2322576"/>
                  </a:lnTo>
                  <a:cubicBezTo>
                    <a:pt x="22128480" y="2403348"/>
                    <a:pt x="22062948" y="2468880"/>
                    <a:pt x="21982176" y="2468880"/>
                  </a:cubicBezTo>
                  <a:lnTo>
                    <a:pt x="146304" y="2468880"/>
                  </a:lnTo>
                  <a:cubicBezTo>
                    <a:pt x="65532" y="2468880"/>
                    <a:pt x="0" y="2403348"/>
                    <a:pt x="0" y="2322576"/>
                  </a:cubicBezTo>
                  <a:close/>
                </a:path>
              </a:pathLst>
            </a:custGeom>
            <a:solidFill>
              <a:srgbClr val="1E2761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303020" y="7790688"/>
            <a:ext cx="15636240" cy="1508760"/>
            <a:chOff x="0" y="0"/>
            <a:chExt cx="20848320" cy="201168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0848320" cy="2011680"/>
            </a:xfrm>
            <a:custGeom>
              <a:avLst/>
              <a:gdLst/>
              <a:ahLst/>
              <a:cxnLst/>
              <a:rect r="r" b="b" t="t" l="l"/>
              <a:pathLst>
                <a:path h="2011680" w="20848320">
                  <a:moveTo>
                    <a:pt x="0" y="0"/>
                  </a:moveTo>
                  <a:lnTo>
                    <a:pt x="20848320" y="0"/>
                  </a:lnTo>
                  <a:lnTo>
                    <a:pt x="20848320" y="2011680"/>
                  </a:lnTo>
                  <a:lnTo>
                    <a:pt x="0" y="2011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1935" r="0" b="-151935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20848320" cy="20593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just">
                <a:lnSpc>
                  <a:spcPts val="2340"/>
                </a:lnSpc>
              </a:pPr>
              <a:r>
                <a:rPr lang="en-US" sz="1950" b="true">
                  <a:solidFill>
                    <a:srgbClr val="F2B13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Insight  </a:t>
              </a:r>
              <a:r>
                <a:rPr lang="en-US" sz="195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Quase 75% do mercado está aberto a mudar de emprego, retenção precisa ser prioridade, não só atração. E como o maior desafio das lideranças é dividir tempo entre técnico e gestão, trilhas de carreira separadas para especialista e gestor ajudam a reduzir esse risco.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6088868" y="9710928"/>
            <a:ext cx="1371600" cy="411480"/>
            <a:chOff x="0" y="0"/>
            <a:chExt cx="1828800" cy="54864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828800" cy="548640"/>
            </a:xfrm>
            <a:custGeom>
              <a:avLst/>
              <a:gdLst/>
              <a:ahLst/>
              <a:cxnLst/>
              <a:rect r="r" b="b" t="t" l="l"/>
              <a:pathLst>
                <a:path h="548640" w="1828800">
                  <a:moveTo>
                    <a:pt x="0" y="0"/>
                  </a:moveTo>
                  <a:lnTo>
                    <a:pt x="1828800" y="0"/>
                  </a:lnTo>
                  <a:lnTo>
                    <a:pt x="18288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950" r="0" b="-14950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28575"/>
              <a:ext cx="18288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5B6B8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9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227352" y="2221992"/>
            <a:ext cx="8916648" cy="4601213"/>
            <a:chOff x="0" y="0"/>
            <a:chExt cx="11888864" cy="6134951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1888851" cy="6134989"/>
            </a:xfrm>
            <a:custGeom>
              <a:avLst/>
              <a:gdLst/>
              <a:ahLst/>
              <a:cxnLst/>
              <a:rect r="r" b="b" t="t" l="l"/>
              <a:pathLst>
                <a:path h="6134989" w="11888851">
                  <a:moveTo>
                    <a:pt x="0" y="0"/>
                  </a:moveTo>
                  <a:lnTo>
                    <a:pt x="11888851" y="0"/>
                  </a:lnTo>
                  <a:lnTo>
                    <a:pt x="11888851" y="6134989"/>
                  </a:lnTo>
                  <a:lnTo>
                    <a:pt x="0" y="613498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9121140" y="2221992"/>
            <a:ext cx="9030957" cy="4601213"/>
            <a:chOff x="0" y="0"/>
            <a:chExt cx="12041276" cy="6134951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2041251" cy="6134989"/>
            </a:xfrm>
            <a:custGeom>
              <a:avLst/>
              <a:gdLst/>
              <a:ahLst/>
              <a:cxnLst/>
              <a:rect r="r" b="b" t="t" l="l"/>
              <a:pathLst>
                <a:path h="6134989" w="12041251">
                  <a:moveTo>
                    <a:pt x="0" y="0"/>
                  </a:moveTo>
                  <a:lnTo>
                    <a:pt x="12041251" y="0"/>
                  </a:lnTo>
                  <a:lnTo>
                    <a:pt x="12041251" y="6134989"/>
                  </a:lnTo>
                  <a:lnTo>
                    <a:pt x="0" y="613498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685800"/>
            <a:ext cx="10972800" cy="411480"/>
            <a:chOff x="0" y="0"/>
            <a:chExt cx="14630400" cy="5486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630400" cy="548640"/>
            </a:xfrm>
            <a:custGeom>
              <a:avLst/>
              <a:gdLst/>
              <a:ahLst/>
              <a:cxnLst/>
              <a:rect r="r" b="b" t="t" l="l"/>
              <a:pathLst>
                <a:path h="5486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9601" r="0" b="-469601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146304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b="true" sz="1650" spc="299">
                  <a:solidFill>
                    <a:srgbClr val="F2B13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SOLUÇÃO TÉCNICA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22960" y="1069848"/>
            <a:ext cx="15773400" cy="1028700"/>
            <a:chOff x="0" y="0"/>
            <a:chExt cx="21031200" cy="13716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031200" cy="1371600"/>
            </a:xfrm>
            <a:custGeom>
              <a:avLst/>
              <a:gdLst/>
              <a:ahLst/>
              <a:cxnLst/>
              <a:rect r="r" b="b" t="t" l="l"/>
              <a:pathLst>
                <a:path h="1371600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1371600"/>
                  </a:lnTo>
                  <a:lnTo>
                    <a:pt x="0" y="1371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8770" r="0" b="-248770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21031200" cy="13811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040"/>
                </a:lnSpc>
              </a:pPr>
              <a:r>
                <a:rPr lang="en-US" sz="4200" b="true">
                  <a:solidFill>
                    <a:srgbClr val="1E2761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Arquitetura da Solução em AWS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22960" y="1947672"/>
            <a:ext cx="15773400" cy="548640"/>
            <a:chOff x="0" y="0"/>
            <a:chExt cx="21031200" cy="73152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031200" cy="731520"/>
            </a:xfrm>
            <a:custGeom>
              <a:avLst/>
              <a:gdLst/>
              <a:ahLst/>
              <a:cxnLst/>
              <a:rect r="r" b="b" t="t" l="l"/>
              <a:pathLst>
                <a:path h="731520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10194" r="0" b="-510194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2103120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>
                  <a:solidFill>
                    <a:srgbClr val="5B6B8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Pipeline de ingestão, processamento e disponibilização dos dados da pesquisa State of Data Brasil.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6088868" y="9710928"/>
            <a:ext cx="1371600" cy="411480"/>
            <a:chOff x="0" y="0"/>
            <a:chExt cx="1828800" cy="54864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828800" cy="548640"/>
            </a:xfrm>
            <a:custGeom>
              <a:avLst/>
              <a:gdLst/>
              <a:ahLst/>
              <a:cxnLst/>
              <a:rect r="r" b="b" t="t" l="l"/>
              <a:pathLst>
                <a:path h="548640" w="1828800">
                  <a:moveTo>
                    <a:pt x="0" y="0"/>
                  </a:moveTo>
                  <a:lnTo>
                    <a:pt x="1828800" y="0"/>
                  </a:lnTo>
                  <a:lnTo>
                    <a:pt x="18288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950" r="0" b="-14950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28575"/>
              <a:ext cx="18288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5B6B8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10</a:t>
              </a: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482389" y="2725078"/>
            <a:ext cx="17323222" cy="5889895"/>
          </a:xfrm>
          <a:custGeom>
            <a:avLst/>
            <a:gdLst/>
            <a:ahLst/>
            <a:cxnLst/>
            <a:rect r="r" b="b" t="t" l="l"/>
            <a:pathLst>
              <a:path h="5889895" w="17323222">
                <a:moveTo>
                  <a:pt x="0" y="0"/>
                </a:moveTo>
                <a:lnTo>
                  <a:pt x="17323222" y="0"/>
                </a:lnTo>
                <a:lnTo>
                  <a:pt x="17323222" y="5889896"/>
                </a:lnTo>
                <a:lnTo>
                  <a:pt x="0" y="588989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617220"/>
            <a:ext cx="10972800" cy="411480"/>
            <a:chOff x="0" y="0"/>
            <a:chExt cx="14630400" cy="5486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630400" cy="548640"/>
            </a:xfrm>
            <a:custGeom>
              <a:avLst/>
              <a:gdLst/>
              <a:ahLst/>
              <a:cxnLst/>
              <a:rect r="r" b="b" t="t" l="l"/>
              <a:pathLst>
                <a:path h="5486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9601" r="0" b="-469601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146304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b="true" sz="1650" spc="299">
                  <a:solidFill>
                    <a:srgbClr val="F2B13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CONCLUSÃO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22960" y="987552"/>
            <a:ext cx="15773400" cy="960120"/>
            <a:chOff x="0" y="0"/>
            <a:chExt cx="21031200" cy="128016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031200" cy="1280160"/>
            </a:xfrm>
            <a:custGeom>
              <a:avLst/>
              <a:gdLst/>
              <a:ahLst/>
              <a:cxnLst/>
              <a:rect r="r" b="b" t="t" l="l"/>
              <a:pathLst>
                <a:path h="1280160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0111" r="0" b="-270111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21031200" cy="12896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040"/>
                </a:lnSpc>
              </a:pPr>
              <a:r>
                <a:rPr lang="en-US" sz="42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Recomendações Estratégicas (1/2)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22960" y="2400300"/>
            <a:ext cx="7886700" cy="7063740"/>
            <a:chOff x="0" y="0"/>
            <a:chExt cx="10515600" cy="941832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515600" cy="9418320"/>
            </a:xfrm>
            <a:custGeom>
              <a:avLst/>
              <a:gdLst/>
              <a:ahLst/>
              <a:cxnLst/>
              <a:rect r="r" b="b" t="t" l="l"/>
              <a:pathLst>
                <a:path h="9418320" w="1051560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10369296" y="0"/>
                  </a:lnTo>
                  <a:cubicBezTo>
                    <a:pt x="10450068" y="0"/>
                    <a:pt x="10515600" y="65532"/>
                    <a:pt x="10515600" y="146304"/>
                  </a:cubicBezTo>
                  <a:lnTo>
                    <a:pt x="10515600" y="9272016"/>
                  </a:lnTo>
                  <a:cubicBezTo>
                    <a:pt x="10515600" y="9352788"/>
                    <a:pt x="10450068" y="9418320"/>
                    <a:pt x="10369296" y="9418320"/>
                  </a:cubicBezTo>
                  <a:lnTo>
                    <a:pt x="146304" y="9418320"/>
                  </a:lnTo>
                  <a:cubicBezTo>
                    <a:pt x="65532" y="9418320"/>
                    <a:pt x="0" y="9352788"/>
                    <a:pt x="0" y="9272016"/>
                  </a:cubicBezTo>
                  <a:close/>
                </a:path>
              </a:pathLst>
            </a:custGeom>
            <a:solidFill>
              <a:srgbClr val="263882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303020" y="2811780"/>
            <a:ext cx="6926580" cy="617220"/>
            <a:chOff x="0" y="0"/>
            <a:chExt cx="9235440" cy="82296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9235440" cy="822960"/>
            </a:xfrm>
            <a:custGeom>
              <a:avLst/>
              <a:gdLst/>
              <a:ahLst/>
              <a:cxnLst/>
              <a:rect r="r" b="b" t="t" l="l"/>
              <a:pathLst>
                <a:path h="822960" w="9235440">
                  <a:moveTo>
                    <a:pt x="0" y="0"/>
                  </a:moveTo>
                  <a:lnTo>
                    <a:pt x="9235440" y="0"/>
                  </a:lnTo>
                  <a:lnTo>
                    <a:pt x="9235440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8665" r="0" b="-168665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9235440" cy="8610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F2B13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Contratação e Retenção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303020" y="3785616"/>
            <a:ext cx="164592" cy="164592"/>
            <a:chOff x="0" y="0"/>
            <a:chExt cx="219456" cy="219456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19456" cy="219456"/>
            </a:xfrm>
            <a:custGeom>
              <a:avLst/>
              <a:gdLst/>
              <a:ahLst/>
              <a:cxnLst/>
              <a:rect r="r" b="b" t="t" l="l"/>
              <a:pathLst>
                <a:path h="219456" w="219456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cubicBezTo>
                    <a:pt x="170307" y="0"/>
                    <a:pt x="219456" y="49149"/>
                    <a:pt x="219456" y="109728"/>
                  </a:cubicBezTo>
                  <a:cubicBezTo>
                    <a:pt x="219456" y="170307"/>
                    <a:pt x="170307" y="219456"/>
                    <a:pt x="109728" y="219456"/>
                  </a:cubicBezTo>
                  <a:cubicBezTo>
                    <a:pt x="49149" y="219456"/>
                    <a:pt x="0" y="170307"/>
                    <a:pt x="0" y="109728"/>
                  </a:cubicBezTo>
                  <a:close/>
                </a:path>
              </a:pathLst>
            </a:custGeom>
            <a:solidFill>
              <a:srgbClr val="CADCFC"/>
            </a:solidFill>
          </p:spPr>
        </p:sp>
      </p:grpSp>
      <p:sp>
        <p:nvSpPr>
          <p:cNvPr name="TextBox 15" id="15"/>
          <p:cNvSpPr txBox="true"/>
          <p:nvPr/>
        </p:nvSpPr>
        <p:spPr>
          <a:xfrm rot="0">
            <a:off x="1764792" y="3582162"/>
            <a:ext cx="6332220" cy="12687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75"/>
              </a:lnSpc>
            </a:pPr>
            <a:r>
              <a:rPr lang="en-US" sz="1875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Manter modelo CLT com plano de carreira — é o que melhor atrai talento nesse mercado.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1369314" y="6665976"/>
            <a:ext cx="164592" cy="164592"/>
            <a:chOff x="0" y="0"/>
            <a:chExt cx="219456" cy="219456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19456" cy="219456"/>
            </a:xfrm>
            <a:custGeom>
              <a:avLst/>
              <a:gdLst/>
              <a:ahLst/>
              <a:cxnLst/>
              <a:rect r="r" b="b" t="t" l="l"/>
              <a:pathLst>
                <a:path h="219456" w="219456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cubicBezTo>
                    <a:pt x="170307" y="0"/>
                    <a:pt x="219456" y="49149"/>
                    <a:pt x="219456" y="109728"/>
                  </a:cubicBezTo>
                  <a:cubicBezTo>
                    <a:pt x="219456" y="170307"/>
                    <a:pt x="170307" y="219456"/>
                    <a:pt x="109728" y="219456"/>
                  </a:cubicBezTo>
                  <a:cubicBezTo>
                    <a:pt x="49149" y="219456"/>
                    <a:pt x="0" y="170307"/>
                    <a:pt x="0" y="109728"/>
                  </a:cubicBezTo>
                  <a:close/>
                </a:path>
              </a:pathLst>
            </a:custGeom>
            <a:solidFill>
              <a:srgbClr val="CADCFC"/>
            </a:solidFill>
          </p:spPr>
        </p:sp>
      </p:grpSp>
      <p:sp>
        <p:nvSpPr>
          <p:cNvPr name="TextBox 18" id="18"/>
          <p:cNvSpPr txBox="true"/>
          <p:nvPr/>
        </p:nvSpPr>
        <p:spPr>
          <a:xfrm rot="0">
            <a:off x="1831086" y="6462522"/>
            <a:ext cx="6332220" cy="12687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75"/>
              </a:lnSpc>
            </a:pPr>
            <a:r>
              <a:rPr lang="en-US" sz="1875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Concentrar retenção na faixa de 3 a 6 anos de experiência, quando o profissional vira Sênior e fica mais visado pela concorrência.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1369314" y="8106156"/>
            <a:ext cx="164592" cy="164592"/>
            <a:chOff x="0" y="0"/>
            <a:chExt cx="219456" cy="219456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19456" cy="219456"/>
            </a:xfrm>
            <a:custGeom>
              <a:avLst/>
              <a:gdLst/>
              <a:ahLst/>
              <a:cxnLst/>
              <a:rect r="r" b="b" t="t" l="l"/>
              <a:pathLst>
                <a:path h="219456" w="219456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cubicBezTo>
                    <a:pt x="170307" y="0"/>
                    <a:pt x="219456" y="49149"/>
                    <a:pt x="219456" y="109728"/>
                  </a:cubicBezTo>
                  <a:cubicBezTo>
                    <a:pt x="219456" y="170307"/>
                    <a:pt x="170307" y="219456"/>
                    <a:pt x="109728" y="219456"/>
                  </a:cubicBezTo>
                  <a:cubicBezTo>
                    <a:pt x="49149" y="219456"/>
                    <a:pt x="0" y="170307"/>
                    <a:pt x="0" y="109728"/>
                  </a:cubicBezTo>
                  <a:close/>
                </a:path>
              </a:pathLst>
            </a:custGeom>
            <a:solidFill>
              <a:srgbClr val="CADCFC"/>
            </a:solidFill>
          </p:spPr>
        </p:sp>
      </p:grpSp>
      <p:sp>
        <p:nvSpPr>
          <p:cNvPr name="TextBox 21" id="21"/>
          <p:cNvSpPr txBox="true"/>
          <p:nvPr/>
        </p:nvSpPr>
        <p:spPr>
          <a:xfrm rot="0">
            <a:off x="1831086" y="7902702"/>
            <a:ext cx="6332220" cy="12687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75"/>
              </a:lnSpc>
            </a:pPr>
            <a:r>
              <a:rPr lang="en-US" sz="1875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Investir em retenção ativa: quase 75% do mercado está aberto a mudar de emprego e a satisfação vem caindo.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9532620" y="2400300"/>
            <a:ext cx="7886700" cy="7063740"/>
            <a:chOff x="0" y="0"/>
            <a:chExt cx="10515600" cy="941832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0515600" cy="9418320"/>
            </a:xfrm>
            <a:custGeom>
              <a:avLst/>
              <a:gdLst/>
              <a:ahLst/>
              <a:cxnLst/>
              <a:rect r="r" b="b" t="t" l="l"/>
              <a:pathLst>
                <a:path h="9418320" w="1051560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10369296" y="0"/>
                  </a:lnTo>
                  <a:cubicBezTo>
                    <a:pt x="10450068" y="0"/>
                    <a:pt x="10515600" y="65532"/>
                    <a:pt x="10515600" y="146304"/>
                  </a:cubicBezTo>
                  <a:lnTo>
                    <a:pt x="10515600" y="9272016"/>
                  </a:lnTo>
                  <a:cubicBezTo>
                    <a:pt x="10515600" y="9352788"/>
                    <a:pt x="10450068" y="9418320"/>
                    <a:pt x="10369296" y="9418320"/>
                  </a:cubicBezTo>
                  <a:lnTo>
                    <a:pt x="146304" y="9418320"/>
                  </a:lnTo>
                  <a:cubicBezTo>
                    <a:pt x="65532" y="9418320"/>
                    <a:pt x="0" y="9352788"/>
                    <a:pt x="0" y="9272016"/>
                  </a:cubicBezTo>
                  <a:close/>
                </a:path>
              </a:pathLst>
            </a:custGeom>
            <a:solidFill>
              <a:srgbClr val="263882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10012680" y="2811780"/>
            <a:ext cx="6926580" cy="617220"/>
            <a:chOff x="0" y="0"/>
            <a:chExt cx="9235440" cy="82296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9235440" cy="822960"/>
            </a:xfrm>
            <a:custGeom>
              <a:avLst/>
              <a:gdLst/>
              <a:ahLst/>
              <a:cxnLst/>
              <a:rect r="r" b="b" t="t" l="l"/>
              <a:pathLst>
                <a:path h="822960" w="9235440">
                  <a:moveTo>
                    <a:pt x="0" y="0"/>
                  </a:moveTo>
                  <a:lnTo>
                    <a:pt x="9235440" y="0"/>
                  </a:lnTo>
                  <a:lnTo>
                    <a:pt x="9235440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8665" r="0" b="-168665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38100"/>
              <a:ext cx="9235440" cy="8610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F2B13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Formação e Trilha de Carreira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10012680" y="3785616"/>
            <a:ext cx="164592" cy="164592"/>
            <a:chOff x="0" y="0"/>
            <a:chExt cx="219456" cy="219456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219456" cy="219456"/>
            </a:xfrm>
            <a:custGeom>
              <a:avLst/>
              <a:gdLst/>
              <a:ahLst/>
              <a:cxnLst/>
              <a:rect r="r" b="b" t="t" l="l"/>
              <a:pathLst>
                <a:path h="219456" w="219456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cubicBezTo>
                    <a:pt x="170307" y="0"/>
                    <a:pt x="219456" y="49149"/>
                    <a:pt x="219456" y="109728"/>
                  </a:cubicBezTo>
                  <a:cubicBezTo>
                    <a:pt x="219456" y="170307"/>
                    <a:pt x="170307" y="219456"/>
                    <a:pt x="109728" y="219456"/>
                  </a:cubicBezTo>
                  <a:cubicBezTo>
                    <a:pt x="49149" y="219456"/>
                    <a:pt x="0" y="170307"/>
                    <a:pt x="0" y="109728"/>
                  </a:cubicBezTo>
                  <a:close/>
                </a:path>
              </a:pathLst>
            </a:custGeom>
            <a:solidFill>
              <a:srgbClr val="CADCFC"/>
            </a:solidFill>
          </p:spPr>
        </p:sp>
      </p:grpSp>
      <p:sp>
        <p:nvSpPr>
          <p:cNvPr name="TextBox 29" id="29"/>
          <p:cNvSpPr txBox="true"/>
          <p:nvPr/>
        </p:nvSpPr>
        <p:spPr>
          <a:xfrm rot="0">
            <a:off x="10474452" y="3582162"/>
            <a:ext cx="6332220" cy="12687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75"/>
              </a:lnSpc>
            </a:pPr>
            <a:r>
              <a:rPr lang="en-US" sz="1875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Estruturar programas de trainee/júnior próprios, já que a base júnior do mercado está encolhendo.</a:t>
            </a:r>
          </a:p>
        </p:txBody>
      </p:sp>
      <p:grpSp>
        <p:nvGrpSpPr>
          <p:cNvPr name="Group 30" id="30"/>
          <p:cNvGrpSpPr/>
          <p:nvPr/>
        </p:nvGrpSpPr>
        <p:grpSpPr>
          <a:xfrm rot="0">
            <a:off x="10012680" y="5225796"/>
            <a:ext cx="164592" cy="164592"/>
            <a:chOff x="0" y="0"/>
            <a:chExt cx="219456" cy="219456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219456" cy="219456"/>
            </a:xfrm>
            <a:custGeom>
              <a:avLst/>
              <a:gdLst/>
              <a:ahLst/>
              <a:cxnLst/>
              <a:rect r="r" b="b" t="t" l="l"/>
              <a:pathLst>
                <a:path h="219456" w="219456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cubicBezTo>
                    <a:pt x="170307" y="0"/>
                    <a:pt x="219456" y="49149"/>
                    <a:pt x="219456" y="109728"/>
                  </a:cubicBezTo>
                  <a:cubicBezTo>
                    <a:pt x="219456" y="170307"/>
                    <a:pt x="170307" y="219456"/>
                    <a:pt x="109728" y="219456"/>
                  </a:cubicBezTo>
                  <a:cubicBezTo>
                    <a:pt x="49149" y="219456"/>
                    <a:pt x="0" y="170307"/>
                    <a:pt x="0" y="109728"/>
                  </a:cubicBezTo>
                  <a:close/>
                </a:path>
              </a:pathLst>
            </a:custGeom>
            <a:solidFill>
              <a:srgbClr val="CADCFC"/>
            </a:solidFill>
          </p:spPr>
        </p:sp>
      </p:grpSp>
      <p:sp>
        <p:nvSpPr>
          <p:cNvPr name="TextBox 32" id="32"/>
          <p:cNvSpPr txBox="true"/>
          <p:nvPr/>
        </p:nvSpPr>
        <p:spPr>
          <a:xfrm rot="0">
            <a:off x="10474452" y="5022342"/>
            <a:ext cx="6332220" cy="12687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75"/>
              </a:lnSpc>
            </a:pPr>
            <a:r>
              <a:rPr lang="en-US" sz="1875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Criar trilha clara de evolução Analista → Cientista/Engenheiro de Dados, que é o que realmente move o salário.</a:t>
            </a:r>
          </a:p>
        </p:txBody>
      </p:sp>
      <p:grpSp>
        <p:nvGrpSpPr>
          <p:cNvPr name="Group 33" id="33"/>
          <p:cNvGrpSpPr/>
          <p:nvPr/>
        </p:nvGrpSpPr>
        <p:grpSpPr>
          <a:xfrm rot="0">
            <a:off x="10012680" y="6665976"/>
            <a:ext cx="164592" cy="164592"/>
            <a:chOff x="0" y="0"/>
            <a:chExt cx="219456" cy="219456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219456" cy="219456"/>
            </a:xfrm>
            <a:custGeom>
              <a:avLst/>
              <a:gdLst/>
              <a:ahLst/>
              <a:cxnLst/>
              <a:rect r="r" b="b" t="t" l="l"/>
              <a:pathLst>
                <a:path h="219456" w="219456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cubicBezTo>
                    <a:pt x="170307" y="0"/>
                    <a:pt x="219456" y="49149"/>
                    <a:pt x="219456" y="109728"/>
                  </a:cubicBezTo>
                  <a:cubicBezTo>
                    <a:pt x="219456" y="170307"/>
                    <a:pt x="170307" y="219456"/>
                    <a:pt x="109728" y="219456"/>
                  </a:cubicBezTo>
                  <a:cubicBezTo>
                    <a:pt x="49149" y="219456"/>
                    <a:pt x="0" y="170307"/>
                    <a:pt x="0" y="109728"/>
                  </a:cubicBezTo>
                  <a:close/>
                </a:path>
              </a:pathLst>
            </a:custGeom>
            <a:solidFill>
              <a:srgbClr val="CADCFC"/>
            </a:solidFill>
          </p:spPr>
        </p:sp>
      </p:grpSp>
      <p:sp>
        <p:nvSpPr>
          <p:cNvPr name="TextBox 35" id="35"/>
          <p:cNvSpPr txBox="true"/>
          <p:nvPr/>
        </p:nvSpPr>
        <p:spPr>
          <a:xfrm rot="0">
            <a:off x="10474452" y="6462522"/>
            <a:ext cx="6332220" cy="12687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75"/>
              </a:lnSpc>
            </a:pPr>
            <a:r>
              <a:rPr lang="en-US" sz="1875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Incentivar pós-graduação/mestrado como política de capacitação (maior retorno salarial entre as formações).</a:t>
            </a:r>
          </a:p>
        </p:txBody>
      </p:sp>
      <p:grpSp>
        <p:nvGrpSpPr>
          <p:cNvPr name="Group 36" id="36"/>
          <p:cNvGrpSpPr/>
          <p:nvPr/>
        </p:nvGrpSpPr>
        <p:grpSpPr>
          <a:xfrm rot="0">
            <a:off x="10012680" y="8106156"/>
            <a:ext cx="164592" cy="164592"/>
            <a:chOff x="0" y="0"/>
            <a:chExt cx="219456" cy="219456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219456" cy="219456"/>
            </a:xfrm>
            <a:custGeom>
              <a:avLst/>
              <a:gdLst/>
              <a:ahLst/>
              <a:cxnLst/>
              <a:rect r="r" b="b" t="t" l="l"/>
              <a:pathLst>
                <a:path h="219456" w="219456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cubicBezTo>
                    <a:pt x="170307" y="0"/>
                    <a:pt x="219456" y="49149"/>
                    <a:pt x="219456" y="109728"/>
                  </a:cubicBezTo>
                  <a:cubicBezTo>
                    <a:pt x="219456" y="170307"/>
                    <a:pt x="170307" y="219456"/>
                    <a:pt x="109728" y="219456"/>
                  </a:cubicBezTo>
                  <a:cubicBezTo>
                    <a:pt x="49149" y="219456"/>
                    <a:pt x="0" y="170307"/>
                    <a:pt x="0" y="109728"/>
                  </a:cubicBezTo>
                  <a:close/>
                </a:path>
              </a:pathLst>
            </a:custGeom>
            <a:solidFill>
              <a:srgbClr val="CADCFC"/>
            </a:solidFill>
          </p:spPr>
        </p:sp>
      </p:grpSp>
      <p:sp>
        <p:nvSpPr>
          <p:cNvPr name="TextBox 38" id="38"/>
          <p:cNvSpPr txBox="true"/>
          <p:nvPr/>
        </p:nvSpPr>
        <p:spPr>
          <a:xfrm rot="0">
            <a:off x="10474452" y="7902702"/>
            <a:ext cx="6332220" cy="12687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75"/>
              </a:lnSpc>
            </a:pPr>
            <a:r>
              <a:rPr lang="en-US" sz="1875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Separar trilhas técnica e de gestão, já que dividir esse tempo é o principal desafio das lideranças.</a:t>
            </a:r>
          </a:p>
        </p:txBody>
      </p:sp>
      <p:grpSp>
        <p:nvGrpSpPr>
          <p:cNvPr name="Group 39" id="39"/>
          <p:cNvGrpSpPr/>
          <p:nvPr/>
        </p:nvGrpSpPr>
        <p:grpSpPr>
          <a:xfrm rot="0">
            <a:off x="16088868" y="9710928"/>
            <a:ext cx="1371600" cy="411480"/>
            <a:chOff x="0" y="0"/>
            <a:chExt cx="1828800" cy="54864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1828800" cy="548640"/>
            </a:xfrm>
            <a:custGeom>
              <a:avLst/>
              <a:gdLst/>
              <a:ahLst/>
              <a:cxnLst/>
              <a:rect r="r" b="b" t="t" l="l"/>
              <a:pathLst>
                <a:path h="548640" w="1828800">
                  <a:moveTo>
                    <a:pt x="0" y="0"/>
                  </a:moveTo>
                  <a:lnTo>
                    <a:pt x="1828800" y="0"/>
                  </a:lnTo>
                  <a:lnTo>
                    <a:pt x="18288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950" r="0" b="-14950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28575"/>
              <a:ext cx="18288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5B6B8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11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1303020" y="5082921"/>
            <a:ext cx="164592" cy="164592"/>
            <a:chOff x="0" y="0"/>
            <a:chExt cx="219456" cy="219456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219456" cy="219456"/>
            </a:xfrm>
            <a:custGeom>
              <a:avLst/>
              <a:gdLst/>
              <a:ahLst/>
              <a:cxnLst/>
              <a:rect r="r" b="b" t="t" l="l"/>
              <a:pathLst>
                <a:path h="219456" w="219456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cubicBezTo>
                    <a:pt x="170307" y="0"/>
                    <a:pt x="219456" y="49149"/>
                    <a:pt x="219456" y="109728"/>
                  </a:cubicBezTo>
                  <a:cubicBezTo>
                    <a:pt x="219456" y="170307"/>
                    <a:pt x="170307" y="219456"/>
                    <a:pt x="109728" y="219456"/>
                  </a:cubicBezTo>
                  <a:cubicBezTo>
                    <a:pt x="49149" y="219456"/>
                    <a:pt x="0" y="170307"/>
                    <a:pt x="0" y="109728"/>
                  </a:cubicBezTo>
                  <a:close/>
                </a:path>
              </a:pathLst>
            </a:custGeom>
            <a:solidFill>
              <a:srgbClr val="CADCFC"/>
            </a:solidFill>
          </p:spPr>
        </p:sp>
      </p:grpSp>
      <p:sp>
        <p:nvSpPr>
          <p:cNvPr name="TextBox 44" id="44"/>
          <p:cNvSpPr txBox="true"/>
          <p:nvPr/>
        </p:nvSpPr>
        <p:spPr>
          <a:xfrm rot="0">
            <a:off x="1764792" y="4879467"/>
            <a:ext cx="6332220" cy="971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75"/>
              </a:lnSpc>
            </a:pPr>
            <a:r>
              <a:rPr lang="en-US" sz="1875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Manter ou ampliar os modelos mais flexíveis (100% remoto e Híbrido Flexível) como política padrão pode ser considerado uma vantagem competitiva de recrutamento e retenção.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617220"/>
            <a:ext cx="10972800" cy="411480"/>
            <a:chOff x="0" y="0"/>
            <a:chExt cx="14630400" cy="5486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630400" cy="548640"/>
            </a:xfrm>
            <a:custGeom>
              <a:avLst/>
              <a:gdLst/>
              <a:ahLst/>
              <a:cxnLst/>
              <a:rect r="r" b="b" t="t" l="l"/>
              <a:pathLst>
                <a:path h="5486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9601" r="0" b="-469601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146304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b="true" sz="1650" spc="299">
                  <a:solidFill>
                    <a:srgbClr val="F2B13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CONCLUSÃO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22960" y="987552"/>
            <a:ext cx="15773400" cy="960120"/>
            <a:chOff x="0" y="0"/>
            <a:chExt cx="21031200" cy="128016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031200" cy="1280160"/>
            </a:xfrm>
            <a:custGeom>
              <a:avLst/>
              <a:gdLst/>
              <a:ahLst/>
              <a:cxnLst/>
              <a:rect r="r" b="b" t="t" l="l"/>
              <a:pathLst>
                <a:path h="1280160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0111" r="0" b="-270111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21031200" cy="12896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040"/>
                </a:lnSpc>
              </a:pPr>
              <a:r>
                <a:rPr lang="en-US" sz="42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Recomendações Estratégicas (2/2)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22960" y="2400300"/>
            <a:ext cx="7886700" cy="7063740"/>
            <a:chOff x="0" y="0"/>
            <a:chExt cx="10515600" cy="941832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515600" cy="9418320"/>
            </a:xfrm>
            <a:custGeom>
              <a:avLst/>
              <a:gdLst/>
              <a:ahLst/>
              <a:cxnLst/>
              <a:rect r="r" b="b" t="t" l="l"/>
              <a:pathLst>
                <a:path h="9418320" w="1051560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10369296" y="0"/>
                  </a:lnTo>
                  <a:cubicBezTo>
                    <a:pt x="10450068" y="0"/>
                    <a:pt x="10515600" y="65532"/>
                    <a:pt x="10515600" y="146304"/>
                  </a:cubicBezTo>
                  <a:lnTo>
                    <a:pt x="10515600" y="9272016"/>
                  </a:lnTo>
                  <a:cubicBezTo>
                    <a:pt x="10515600" y="9352788"/>
                    <a:pt x="10450068" y="9418320"/>
                    <a:pt x="10369296" y="9418320"/>
                  </a:cubicBezTo>
                  <a:lnTo>
                    <a:pt x="146304" y="9418320"/>
                  </a:lnTo>
                  <a:cubicBezTo>
                    <a:pt x="65532" y="9418320"/>
                    <a:pt x="0" y="9352788"/>
                    <a:pt x="0" y="9272016"/>
                  </a:cubicBezTo>
                  <a:close/>
                </a:path>
              </a:pathLst>
            </a:custGeom>
            <a:solidFill>
              <a:srgbClr val="263882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303020" y="2811780"/>
            <a:ext cx="6926580" cy="617220"/>
            <a:chOff x="0" y="0"/>
            <a:chExt cx="9235440" cy="82296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9235440" cy="822960"/>
            </a:xfrm>
            <a:custGeom>
              <a:avLst/>
              <a:gdLst/>
              <a:ahLst/>
              <a:cxnLst/>
              <a:rect r="r" b="b" t="t" l="l"/>
              <a:pathLst>
                <a:path h="822960" w="9235440">
                  <a:moveTo>
                    <a:pt x="0" y="0"/>
                  </a:moveTo>
                  <a:lnTo>
                    <a:pt x="9235440" y="0"/>
                  </a:lnTo>
                  <a:lnTo>
                    <a:pt x="9235440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8665" r="0" b="-168665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9235440" cy="8610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F2B13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Diversidade e Equidade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303020" y="3785616"/>
            <a:ext cx="164592" cy="164592"/>
            <a:chOff x="0" y="0"/>
            <a:chExt cx="219456" cy="219456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19456" cy="219456"/>
            </a:xfrm>
            <a:custGeom>
              <a:avLst/>
              <a:gdLst/>
              <a:ahLst/>
              <a:cxnLst/>
              <a:rect r="r" b="b" t="t" l="l"/>
              <a:pathLst>
                <a:path h="219456" w="219456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cubicBezTo>
                    <a:pt x="170307" y="0"/>
                    <a:pt x="219456" y="49149"/>
                    <a:pt x="219456" y="109728"/>
                  </a:cubicBezTo>
                  <a:cubicBezTo>
                    <a:pt x="219456" y="170307"/>
                    <a:pt x="170307" y="219456"/>
                    <a:pt x="109728" y="219456"/>
                  </a:cubicBezTo>
                  <a:cubicBezTo>
                    <a:pt x="49149" y="219456"/>
                    <a:pt x="0" y="170307"/>
                    <a:pt x="0" y="109728"/>
                  </a:cubicBezTo>
                  <a:close/>
                </a:path>
              </a:pathLst>
            </a:custGeom>
            <a:solidFill>
              <a:srgbClr val="CADCFC"/>
            </a:solidFill>
          </p:spPr>
        </p:sp>
      </p:grpSp>
      <p:sp>
        <p:nvSpPr>
          <p:cNvPr name="TextBox 15" id="15"/>
          <p:cNvSpPr txBox="true"/>
          <p:nvPr/>
        </p:nvSpPr>
        <p:spPr>
          <a:xfrm rot="0">
            <a:off x="1764792" y="3582162"/>
            <a:ext cx="6332220" cy="12687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75"/>
              </a:lnSpc>
            </a:pPr>
            <a:r>
              <a:rPr lang="en-US" sz="1875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Tratar diversidade racial como prioridade estratégica — a representatividade de pretos e pardos cai conforme sobe a senioridade.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1303020" y="5225796"/>
            <a:ext cx="164592" cy="164592"/>
            <a:chOff x="0" y="0"/>
            <a:chExt cx="219456" cy="219456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19456" cy="219456"/>
            </a:xfrm>
            <a:custGeom>
              <a:avLst/>
              <a:gdLst/>
              <a:ahLst/>
              <a:cxnLst/>
              <a:rect r="r" b="b" t="t" l="l"/>
              <a:pathLst>
                <a:path h="219456" w="219456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cubicBezTo>
                    <a:pt x="170307" y="0"/>
                    <a:pt x="219456" y="49149"/>
                    <a:pt x="219456" y="109728"/>
                  </a:cubicBezTo>
                  <a:cubicBezTo>
                    <a:pt x="219456" y="170307"/>
                    <a:pt x="170307" y="219456"/>
                    <a:pt x="109728" y="219456"/>
                  </a:cubicBezTo>
                  <a:cubicBezTo>
                    <a:pt x="49149" y="219456"/>
                    <a:pt x="0" y="170307"/>
                    <a:pt x="0" y="109728"/>
                  </a:cubicBezTo>
                  <a:close/>
                </a:path>
              </a:pathLst>
            </a:custGeom>
            <a:solidFill>
              <a:srgbClr val="CADCFC"/>
            </a:solidFill>
          </p:spPr>
        </p:sp>
      </p:grpSp>
      <p:sp>
        <p:nvSpPr>
          <p:cNvPr name="TextBox 18" id="18"/>
          <p:cNvSpPr txBox="true"/>
          <p:nvPr/>
        </p:nvSpPr>
        <p:spPr>
          <a:xfrm rot="0">
            <a:off x="1764792" y="5022342"/>
            <a:ext cx="6332220" cy="12687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75"/>
              </a:lnSpc>
            </a:pPr>
            <a:r>
              <a:rPr lang="en-US" sz="1875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Implementar políticas de equidade salarial de gênero, presente em todos os níveis hierárquicos.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9532620" y="2400300"/>
            <a:ext cx="7886700" cy="7063740"/>
            <a:chOff x="0" y="0"/>
            <a:chExt cx="10515600" cy="941832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0515600" cy="9418320"/>
            </a:xfrm>
            <a:custGeom>
              <a:avLst/>
              <a:gdLst/>
              <a:ahLst/>
              <a:cxnLst/>
              <a:rect r="r" b="b" t="t" l="l"/>
              <a:pathLst>
                <a:path h="9418320" w="1051560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10369296" y="0"/>
                  </a:lnTo>
                  <a:cubicBezTo>
                    <a:pt x="10450068" y="0"/>
                    <a:pt x="10515600" y="65532"/>
                    <a:pt x="10515600" y="146304"/>
                  </a:cubicBezTo>
                  <a:lnTo>
                    <a:pt x="10515600" y="9272016"/>
                  </a:lnTo>
                  <a:cubicBezTo>
                    <a:pt x="10515600" y="9352788"/>
                    <a:pt x="10450068" y="9418320"/>
                    <a:pt x="10369296" y="9418320"/>
                  </a:cubicBezTo>
                  <a:lnTo>
                    <a:pt x="146304" y="9418320"/>
                  </a:lnTo>
                  <a:cubicBezTo>
                    <a:pt x="65532" y="9418320"/>
                    <a:pt x="0" y="9352788"/>
                    <a:pt x="0" y="9272016"/>
                  </a:cubicBezTo>
                  <a:close/>
                </a:path>
              </a:pathLst>
            </a:custGeom>
            <a:solidFill>
              <a:srgbClr val="263882"/>
            </a:solid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10012680" y="2811780"/>
            <a:ext cx="6926580" cy="617220"/>
            <a:chOff x="0" y="0"/>
            <a:chExt cx="9235440" cy="82296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9235440" cy="822960"/>
            </a:xfrm>
            <a:custGeom>
              <a:avLst/>
              <a:gdLst/>
              <a:ahLst/>
              <a:cxnLst/>
              <a:rect r="r" b="b" t="t" l="l"/>
              <a:pathLst>
                <a:path h="822960" w="9235440">
                  <a:moveTo>
                    <a:pt x="0" y="0"/>
                  </a:moveTo>
                  <a:lnTo>
                    <a:pt x="9235440" y="0"/>
                  </a:lnTo>
                  <a:lnTo>
                    <a:pt x="9235440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8665" r="0" b="-168665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38100"/>
              <a:ext cx="9235440" cy="8610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F2B13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Tecnologia, IA e Modelo de Trabalho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0012680" y="3785616"/>
            <a:ext cx="164592" cy="164592"/>
            <a:chOff x="0" y="0"/>
            <a:chExt cx="219456" cy="219456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219456" cy="219456"/>
            </a:xfrm>
            <a:custGeom>
              <a:avLst/>
              <a:gdLst/>
              <a:ahLst/>
              <a:cxnLst/>
              <a:rect r="r" b="b" t="t" l="l"/>
              <a:pathLst>
                <a:path h="219456" w="219456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cubicBezTo>
                    <a:pt x="170307" y="0"/>
                    <a:pt x="219456" y="49149"/>
                    <a:pt x="219456" y="109728"/>
                  </a:cubicBezTo>
                  <a:cubicBezTo>
                    <a:pt x="219456" y="170307"/>
                    <a:pt x="170307" y="219456"/>
                    <a:pt x="109728" y="219456"/>
                  </a:cubicBezTo>
                  <a:cubicBezTo>
                    <a:pt x="49149" y="219456"/>
                    <a:pt x="0" y="170307"/>
                    <a:pt x="0" y="109728"/>
                  </a:cubicBezTo>
                  <a:close/>
                </a:path>
              </a:pathLst>
            </a:custGeom>
            <a:solidFill>
              <a:srgbClr val="CADCFC"/>
            </a:solidFill>
          </p:spPr>
        </p:sp>
      </p:grpSp>
      <p:sp>
        <p:nvSpPr>
          <p:cNvPr name="TextBox 26" id="26"/>
          <p:cNvSpPr txBox="true"/>
          <p:nvPr/>
        </p:nvSpPr>
        <p:spPr>
          <a:xfrm rot="0">
            <a:off x="10474452" y="3582162"/>
            <a:ext cx="6332220" cy="12687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75"/>
              </a:lnSpc>
            </a:pPr>
            <a:r>
              <a:rPr lang="en-US" sz="1875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Padronizar a stack técnica em Python, SQL e AWS — linguagem e cloud líderes e em ascensão.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10012680" y="5225796"/>
            <a:ext cx="164592" cy="164592"/>
            <a:chOff x="0" y="0"/>
            <a:chExt cx="219456" cy="219456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219456" cy="219456"/>
            </a:xfrm>
            <a:custGeom>
              <a:avLst/>
              <a:gdLst/>
              <a:ahLst/>
              <a:cxnLst/>
              <a:rect r="r" b="b" t="t" l="l"/>
              <a:pathLst>
                <a:path h="219456" w="219456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cubicBezTo>
                    <a:pt x="170307" y="0"/>
                    <a:pt x="219456" y="49149"/>
                    <a:pt x="219456" y="109728"/>
                  </a:cubicBezTo>
                  <a:cubicBezTo>
                    <a:pt x="219456" y="170307"/>
                    <a:pt x="170307" y="219456"/>
                    <a:pt x="109728" y="219456"/>
                  </a:cubicBezTo>
                  <a:cubicBezTo>
                    <a:pt x="49149" y="219456"/>
                    <a:pt x="0" y="170307"/>
                    <a:pt x="0" y="109728"/>
                  </a:cubicBezTo>
                  <a:close/>
                </a:path>
              </a:pathLst>
            </a:custGeom>
            <a:solidFill>
              <a:srgbClr val="CADCFC"/>
            </a:solidFill>
          </p:spPr>
        </p:sp>
      </p:grpSp>
      <p:sp>
        <p:nvSpPr>
          <p:cNvPr name="TextBox 29" id="29"/>
          <p:cNvSpPr txBox="true"/>
          <p:nvPr/>
        </p:nvSpPr>
        <p:spPr>
          <a:xfrm rot="0">
            <a:off x="10474452" y="5022342"/>
            <a:ext cx="6332220" cy="12687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75"/>
              </a:lnSpc>
            </a:pPr>
            <a:r>
              <a:rPr lang="en-US" sz="1875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Formalizar investimento em IA (licenciamento corporativo), hoje majoritariamente individual e gratuito.</a:t>
            </a:r>
          </a:p>
        </p:txBody>
      </p:sp>
      <p:grpSp>
        <p:nvGrpSpPr>
          <p:cNvPr name="Group 30" id="30"/>
          <p:cNvGrpSpPr/>
          <p:nvPr/>
        </p:nvGrpSpPr>
        <p:grpSpPr>
          <a:xfrm rot="0">
            <a:off x="10012680" y="6665976"/>
            <a:ext cx="164592" cy="164592"/>
            <a:chOff x="0" y="0"/>
            <a:chExt cx="219456" cy="219456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219456" cy="219456"/>
            </a:xfrm>
            <a:custGeom>
              <a:avLst/>
              <a:gdLst/>
              <a:ahLst/>
              <a:cxnLst/>
              <a:rect r="r" b="b" t="t" l="l"/>
              <a:pathLst>
                <a:path h="219456" w="219456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cubicBezTo>
                    <a:pt x="170307" y="0"/>
                    <a:pt x="219456" y="49149"/>
                    <a:pt x="219456" y="109728"/>
                  </a:cubicBezTo>
                  <a:cubicBezTo>
                    <a:pt x="219456" y="170307"/>
                    <a:pt x="170307" y="219456"/>
                    <a:pt x="109728" y="219456"/>
                  </a:cubicBezTo>
                  <a:cubicBezTo>
                    <a:pt x="49149" y="219456"/>
                    <a:pt x="0" y="170307"/>
                    <a:pt x="0" y="109728"/>
                  </a:cubicBezTo>
                  <a:close/>
                </a:path>
              </a:pathLst>
            </a:custGeom>
            <a:solidFill>
              <a:srgbClr val="CADCFC"/>
            </a:solidFill>
          </p:spPr>
        </p:sp>
      </p:grpSp>
      <p:sp>
        <p:nvSpPr>
          <p:cNvPr name="TextBox 32" id="32"/>
          <p:cNvSpPr txBox="true"/>
          <p:nvPr/>
        </p:nvSpPr>
        <p:spPr>
          <a:xfrm rot="0">
            <a:off x="10474452" y="6462522"/>
            <a:ext cx="6332220" cy="12687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75"/>
              </a:lnSpc>
            </a:pPr>
            <a:r>
              <a:rPr lang="en-US" sz="1875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Antecipar contratação e capacitação em Engenharia de ML/IA, área com pouca oferta frente à demanda crescente.</a:t>
            </a:r>
          </a:p>
        </p:txBody>
      </p:sp>
      <p:grpSp>
        <p:nvGrpSpPr>
          <p:cNvPr name="Group 33" id="33"/>
          <p:cNvGrpSpPr/>
          <p:nvPr/>
        </p:nvGrpSpPr>
        <p:grpSpPr>
          <a:xfrm rot="0">
            <a:off x="10012680" y="8106156"/>
            <a:ext cx="164592" cy="164592"/>
            <a:chOff x="0" y="0"/>
            <a:chExt cx="219456" cy="219456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219456" cy="219456"/>
            </a:xfrm>
            <a:custGeom>
              <a:avLst/>
              <a:gdLst/>
              <a:ahLst/>
              <a:cxnLst/>
              <a:rect r="r" b="b" t="t" l="l"/>
              <a:pathLst>
                <a:path h="219456" w="219456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cubicBezTo>
                    <a:pt x="170307" y="0"/>
                    <a:pt x="219456" y="49149"/>
                    <a:pt x="219456" y="109728"/>
                  </a:cubicBezTo>
                  <a:cubicBezTo>
                    <a:pt x="219456" y="170307"/>
                    <a:pt x="170307" y="219456"/>
                    <a:pt x="109728" y="219456"/>
                  </a:cubicBezTo>
                  <a:cubicBezTo>
                    <a:pt x="49149" y="219456"/>
                    <a:pt x="0" y="170307"/>
                    <a:pt x="0" y="109728"/>
                  </a:cubicBezTo>
                  <a:close/>
                </a:path>
              </a:pathLst>
            </a:custGeom>
            <a:solidFill>
              <a:srgbClr val="CADCFC"/>
            </a:solidFill>
          </p:spPr>
        </p:sp>
      </p:grpSp>
      <p:sp>
        <p:nvSpPr>
          <p:cNvPr name="TextBox 35" id="35"/>
          <p:cNvSpPr txBox="true"/>
          <p:nvPr/>
        </p:nvSpPr>
        <p:spPr>
          <a:xfrm rot="0">
            <a:off x="10474452" y="7902702"/>
            <a:ext cx="6332220" cy="12687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75"/>
              </a:lnSpc>
            </a:pPr>
            <a:r>
              <a:rPr lang="en-US" sz="1875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Evitar exigir 100% presencial e manter hibridez como diferencial competitivo de atração e retenção.</a:t>
            </a:r>
          </a:p>
        </p:txBody>
      </p:sp>
      <p:grpSp>
        <p:nvGrpSpPr>
          <p:cNvPr name="Group 36" id="36"/>
          <p:cNvGrpSpPr/>
          <p:nvPr/>
        </p:nvGrpSpPr>
        <p:grpSpPr>
          <a:xfrm rot="0">
            <a:off x="16088868" y="9710928"/>
            <a:ext cx="1371600" cy="411480"/>
            <a:chOff x="0" y="0"/>
            <a:chExt cx="1828800" cy="54864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828800" cy="548640"/>
            </a:xfrm>
            <a:custGeom>
              <a:avLst/>
              <a:gdLst/>
              <a:ahLst/>
              <a:cxnLst/>
              <a:rect r="r" b="b" t="t" l="l"/>
              <a:pathLst>
                <a:path h="548640" w="1828800">
                  <a:moveTo>
                    <a:pt x="0" y="0"/>
                  </a:moveTo>
                  <a:lnTo>
                    <a:pt x="1828800" y="0"/>
                  </a:lnTo>
                  <a:lnTo>
                    <a:pt x="18288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950" r="0" b="-14950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28575"/>
              <a:ext cx="18288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5B6B8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12</a:t>
              </a:r>
            </a:p>
          </p:txBody>
        </p:sp>
      </p:grp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685800"/>
            <a:ext cx="10972800" cy="411480"/>
            <a:chOff x="0" y="0"/>
            <a:chExt cx="14630400" cy="5486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630400" cy="548640"/>
            </a:xfrm>
            <a:custGeom>
              <a:avLst/>
              <a:gdLst/>
              <a:ahLst/>
              <a:cxnLst/>
              <a:rect r="r" b="b" t="t" l="l"/>
              <a:pathLst>
                <a:path h="5486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69601" r="0" b="-469601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146304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b="true" sz="1650" spc="299">
                  <a:solidFill>
                    <a:srgbClr val="F2B13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DOCUMENTOS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22960" y="1069848"/>
            <a:ext cx="15773400" cy="1165860"/>
            <a:chOff x="0" y="0"/>
            <a:chExt cx="21031200" cy="155448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031200" cy="1554480"/>
            </a:xfrm>
            <a:custGeom>
              <a:avLst/>
              <a:gdLst/>
              <a:ahLst/>
              <a:cxnLst/>
              <a:rect r="r" b="b" t="t" l="l"/>
              <a:pathLst>
                <a:path h="1554480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1554480"/>
                  </a:lnTo>
                  <a:lnTo>
                    <a:pt x="0" y="15544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13621" r="0" b="-213621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21031200" cy="15640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759"/>
                </a:lnSpc>
              </a:pPr>
              <a:r>
                <a:rPr lang="en-US" sz="4800" b="true">
                  <a:solidFill>
                    <a:srgbClr val="1E2761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Entregáveis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22960" y="2125980"/>
            <a:ext cx="15773400" cy="548640"/>
            <a:chOff x="0" y="0"/>
            <a:chExt cx="21031200" cy="73152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031200" cy="731520"/>
            </a:xfrm>
            <a:custGeom>
              <a:avLst/>
              <a:gdLst/>
              <a:ahLst/>
              <a:cxnLst/>
              <a:rect r="r" b="b" t="t" l="l"/>
              <a:pathLst>
                <a:path h="731520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10194" r="0" b="-510194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2103120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5B6B8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Onde encontrar o código, os arquivos do projeto e o dashboard completo.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822960" y="3223260"/>
            <a:ext cx="5143500" cy="5349240"/>
            <a:chOff x="0" y="0"/>
            <a:chExt cx="6858000" cy="713232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6858000" cy="7132320"/>
            </a:xfrm>
            <a:custGeom>
              <a:avLst/>
              <a:gdLst/>
              <a:ahLst/>
              <a:cxnLst/>
              <a:rect r="r" b="b" t="t" l="l"/>
              <a:pathLst>
                <a:path h="7132320" w="6858000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6675120" y="0"/>
                  </a:lnTo>
                  <a:cubicBezTo>
                    <a:pt x="6776085" y="0"/>
                    <a:pt x="6858000" y="81915"/>
                    <a:pt x="6858000" y="182880"/>
                  </a:cubicBezTo>
                  <a:lnTo>
                    <a:pt x="6858000" y="6949440"/>
                  </a:lnTo>
                  <a:cubicBezTo>
                    <a:pt x="6858000" y="7050405"/>
                    <a:pt x="6776085" y="7132320"/>
                    <a:pt x="6675120" y="7132320"/>
                  </a:cubicBezTo>
                  <a:lnTo>
                    <a:pt x="182880" y="7132320"/>
                  </a:lnTo>
                  <a:cubicBezTo>
                    <a:pt x="81915" y="7132320"/>
                    <a:pt x="0" y="7050405"/>
                    <a:pt x="0" y="6949440"/>
                  </a:cubicBezTo>
                  <a:close/>
                </a:path>
              </a:pathLst>
            </a:custGeom>
            <a:solidFill>
              <a:srgbClr val="263882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2777490" y="3840480"/>
            <a:ext cx="1234440" cy="1234440"/>
            <a:chOff x="0" y="0"/>
            <a:chExt cx="1645920" cy="164592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645920" cy="1645920"/>
            </a:xfrm>
            <a:custGeom>
              <a:avLst/>
              <a:gdLst/>
              <a:ahLst/>
              <a:cxnLst/>
              <a:rect r="r" b="b" t="t" l="l"/>
              <a:pathLst>
                <a:path h="1645920" w="1645920">
                  <a:moveTo>
                    <a:pt x="0" y="822960"/>
                  </a:moveTo>
                  <a:cubicBezTo>
                    <a:pt x="0" y="368427"/>
                    <a:pt x="368427" y="0"/>
                    <a:pt x="822960" y="0"/>
                  </a:cubicBezTo>
                  <a:cubicBezTo>
                    <a:pt x="1277493" y="0"/>
                    <a:pt x="1645920" y="368427"/>
                    <a:pt x="1645920" y="822960"/>
                  </a:cubicBezTo>
                  <a:cubicBezTo>
                    <a:pt x="1645920" y="1277493"/>
                    <a:pt x="1277493" y="1645920"/>
                    <a:pt x="822960" y="1645920"/>
                  </a:cubicBezTo>
                  <a:cubicBezTo>
                    <a:pt x="368427" y="1645920"/>
                    <a:pt x="0" y="1277493"/>
                    <a:pt x="0" y="822960"/>
                  </a:cubicBezTo>
                  <a:close/>
                </a:path>
              </a:pathLst>
            </a:custGeom>
            <a:solidFill>
              <a:srgbClr val="0D1117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3051810" y="4114800"/>
            <a:ext cx="685800" cy="685800"/>
            <a:chOff x="0" y="0"/>
            <a:chExt cx="914400" cy="914400"/>
          </a:xfrm>
        </p:grpSpPr>
        <p:sp>
          <p:nvSpPr>
            <p:cNvPr name="Freeform 16" id="16" descr="/home/claude/icons/github.png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1325880" y="5396865"/>
            <a:ext cx="4137660" cy="1003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0"/>
              </a:lnSpc>
            </a:pPr>
            <a:r>
              <a:rPr lang="en-US" sz="1725" b="true">
                <a:solidFill>
                  <a:srgbClr val="CADCFC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CÓDIGO E DESCRIÇÕES TÉCNICAS DA SOLUÇÃO</a:t>
            </a:r>
          </a:p>
        </p:txBody>
      </p:sp>
      <p:sp>
        <p:nvSpPr>
          <p:cNvPr name="AutoShape 18" id="18"/>
          <p:cNvSpPr/>
          <p:nvPr/>
        </p:nvSpPr>
        <p:spPr>
          <a:xfrm rot="18600">
            <a:off x="1636366" y="6647497"/>
            <a:ext cx="3516678" cy="0"/>
          </a:xfrm>
          <a:prstGeom prst="line">
            <a:avLst/>
          </a:prstGeom>
          <a:ln cap="rnd" w="9525">
            <a:solidFill>
              <a:srgbClr val="CADCFC">
                <a:alpha val="44706"/>
              </a:srgbClr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9" id="19"/>
          <p:cNvGrpSpPr/>
          <p:nvPr/>
        </p:nvGrpSpPr>
        <p:grpSpPr>
          <a:xfrm rot="0">
            <a:off x="1165860" y="6858000"/>
            <a:ext cx="4457700" cy="685800"/>
            <a:chOff x="0" y="0"/>
            <a:chExt cx="5943600" cy="9144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5943600" cy="914400"/>
            </a:xfrm>
            <a:custGeom>
              <a:avLst/>
              <a:gdLst/>
              <a:ahLst/>
              <a:cxnLst/>
              <a:rect r="r" b="b" t="t" l="l"/>
              <a:pathLst>
                <a:path h="914400" w="5943600">
                  <a:moveTo>
                    <a:pt x="0" y="0"/>
                  </a:moveTo>
                  <a:lnTo>
                    <a:pt x="5943600" y="0"/>
                  </a:lnTo>
                  <a:lnTo>
                    <a:pt x="59436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6652" r="0" b="-76652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38100"/>
              <a:ext cx="5943600" cy="9525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b="true" sz="2400" u="sng">
                  <a:solidFill>
                    <a:srgbClr val="F2B134"/>
                  </a:solidFill>
                  <a:latin typeface="Calibri (MS) Bold"/>
                  <a:ea typeface="Calibri (MS) Bold"/>
                  <a:cs typeface="Calibri (MS) Bold"/>
                  <a:sym typeface="Calibri (MS) Bold"/>
                  <a:hlinkClick r:id="rId4" tooltip="https://github.com/viniromao159/bigdata_data_hackers"/>
                </a:rPr>
                <a:t>GitHub</a:t>
              </a:r>
            </a:p>
          </p:txBody>
        </p:sp>
      </p:grpSp>
      <p:sp>
        <p:nvSpPr>
          <p:cNvPr name="TextBox 22" id="22"/>
          <p:cNvSpPr txBox="true"/>
          <p:nvPr/>
        </p:nvSpPr>
        <p:spPr>
          <a:xfrm rot="0">
            <a:off x="1257300" y="7560945"/>
            <a:ext cx="4274820" cy="6915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20"/>
              </a:lnSpc>
            </a:pPr>
            <a:r>
              <a:rPr lang="en-US" sz="1350" u="sng">
                <a:solidFill>
                  <a:srgbClr val="CADCFC"/>
                </a:solidFill>
                <a:latin typeface="Calibri (MS)"/>
                <a:ea typeface="Calibri (MS)"/>
                <a:cs typeface="Calibri (MS)"/>
                <a:sym typeface="Calibri (MS)"/>
                <a:hlinkClick r:id="rId5" tooltip="https://github.com/viniromao159/bigdata_data_hackers"/>
              </a:rPr>
              <a:t>github.com/viniromao159/bigdata_data_hackers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6446520" y="3223260"/>
            <a:ext cx="5143500" cy="5349240"/>
            <a:chOff x="0" y="0"/>
            <a:chExt cx="6858000" cy="713232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6858000" cy="7132320"/>
            </a:xfrm>
            <a:custGeom>
              <a:avLst/>
              <a:gdLst/>
              <a:ahLst/>
              <a:cxnLst/>
              <a:rect r="r" b="b" t="t" l="l"/>
              <a:pathLst>
                <a:path h="7132320" w="6858000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6675120" y="0"/>
                  </a:lnTo>
                  <a:cubicBezTo>
                    <a:pt x="6776085" y="0"/>
                    <a:pt x="6858000" y="81915"/>
                    <a:pt x="6858000" y="182880"/>
                  </a:cubicBezTo>
                  <a:lnTo>
                    <a:pt x="6858000" y="6949440"/>
                  </a:lnTo>
                  <a:cubicBezTo>
                    <a:pt x="6858000" y="7050405"/>
                    <a:pt x="6776085" y="7132320"/>
                    <a:pt x="6675120" y="7132320"/>
                  </a:cubicBezTo>
                  <a:lnTo>
                    <a:pt x="182880" y="7132320"/>
                  </a:lnTo>
                  <a:cubicBezTo>
                    <a:pt x="81915" y="7132320"/>
                    <a:pt x="0" y="7050405"/>
                    <a:pt x="0" y="6949440"/>
                  </a:cubicBezTo>
                  <a:close/>
                </a:path>
              </a:pathLst>
            </a:custGeom>
            <a:solidFill>
              <a:srgbClr val="263882"/>
            </a:solid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8401050" y="3840480"/>
            <a:ext cx="1234440" cy="1234440"/>
            <a:chOff x="0" y="0"/>
            <a:chExt cx="1645920" cy="164592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645920" cy="1645920"/>
            </a:xfrm>
            <a:custGeom>
              <a:avLst/>
              <a:gdLst/>
              <a:ahLst/>
              <a:cxnLst/>
              <a:rect r="r" b="b" t="t" l="l"/>
              <a:pathLst>
                <a:path h="1645920" w="1645920">
                  <a:moveTo>
                    <a:pt x="0" y="822960"/>
                  </a:moveTo>
                  <a:cubicBezTo>
                    <a:pt x="0" y="368427"/>
                    <a:pt x="368427" y="0"/>
                    <a:pt x="822960" y="0"/>
                  </a:cubicBezTo>
                  <a:cubicBezTo>
                    <a:pt x="1277493" y="0"/>
                    <a:pt x="1645920" y="368427"/>
                    <a:pt x="1645920" y="822960"/>
                  </a:cubicBezTo>
                  <a:cubicBezTo>
                    <a:pt x="1645920" y="1277493"/>
                    <a:pt x="1277493" y="1645920"/>
                    <a:pt x="822960" y="1645920"/>
                  </a:cubicBezTo>
                  <a:cubicBezTo>
                    <a:pt x="368427" y="1645920"/>
                    <a:pt x="0" y="1277493"/>
                    <a:pt x="0" y="822960"/>
                  </a:cubicBezTo>
                  <a:close/>
                </a:path>
              </a:pathLst>
            </a:custGeom>
            <a:solidFill>
              <a:srgbClr val="1F8A42"/>
            </a:solid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8675370" y="4114800"/>
            <a:ext cx="685800" cy="685800"/>
            <a:chOff x="0" y="0"/>
            <a:chExt cx="914400" cy="914400"/>
          </a:xfrm>
        </p:grpSpPr>
        <p:sp>
          <p:nvSpPr>
            <p:cNvPr name="Freeform 28" id="28" descr="/home/claude/icons/drive.png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sp>
        <p:nvSpPr>
          <p:cNvPr name="TextBox 29" id="29"/>
          <p:cNvSpPr txBox="true"/>
          <p:nvPr/>
        </p:nvSpPr>
        <p:spPr>
          <a:xfrm rot="0">
            <a:off x="6949440" y="5396865"/>
            <a:ext cx="4137660" cy="1003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0"/>
              </a:lnSpc>
            </a:pPr>
            <a:r>
              <a:rPr lang="en-US" sz="1725" b="true">
                <a:solidFill>
                  <a:srgbClr val="CADCFC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ARQUIVOS E CONTEÚDOS RELACIONADOS AO PROJETO</a:t>
            </a:r>
          </a:p>
        </p:txBody>
      </p:sp>
      <p:sp>
        <p:nvSpPr>
          <p:cNvPr name="AutoShape 30" id="30"/>
          <p:cNvSpPr/>
          <p:nvPr/>
        </p:nvSpPr>
        <p:spPr>
          <a:xfrm rot="18600">
            <a:off x="7259926" y="6647497"/>
            <a:ext cx="3516678" cy="0"/>
          </a:xfrm>
          <a:prstGeom prst="line">
            <a:avLst/>
          </a:prstGeom>
          <a:ln cap="rnd" w="9525">
            <a:solidFill>
              <a:srgbClr val="CADCFC">
                <a:alpha val="44706"/>
              </a:srgbClr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1" id="31"/>
          <p:cNvGrpSpPr/>
          <p:nvPr/>
        </p:nvGrpSpPr>
        <p:grpSpPr>
          <a:xfrm rot="0">
            <a:off x="6789420" y="6858000"/>
            <a:ext cx="4457700" cy="685800"/>
            <a:chOff x="0" y="0"/>
            <a:chExt cx="5943600" cy="91440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5943600" cy="914400"/>
            </a:xfrm>
            <a:custGeom>
              <a:avLst/>
              <a:gdLst/>
              <a:ahLst/>
              <a:cxnLst/>
              <a:rect r="r" b="b" t="t" l="l"/>
              <a:pathLst>
                <a:path h="914400" w="5943600">
                  <a:moveTo>
                    <a:pt x="0" y="0"/>
                  </a:moveTo>
                  <a:lnTo>
                    <a:pt x="5943600" y="0"/>
                  </a:lnTo>
                  <a:lnTo>
                    <a:pt x="59436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6652" r="0" b="-76652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38100"/>
              <a:ext cx="5943600" cy="9525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b="true" sz="2400" u="sng">
                  <a:solidFill>
                    <a:srgbClr val="F2B134"/>
                  </a:solidFill>
                  <a:latin typeface="Calibri (MS) Bold"/>
                  <a:ea typeface="Calibri (MS) Bold"/>
                  <a:cs typeface="Calibri (MS) Bold"/>
                  <a:sym typeface="Calibri (MS) Bold"/>
                  <a:hlinkClick r:id="rId7" tooltip="https://drive.google.com/drive/folders/1fDKt0R2d8Mjop54vf5LYDupLACMaQ-sz"/>
                </a:rPr>
                <a:t>Google Drive</a:t>
              </a:r>
            </a:p>
          </p:txBody>
        </p:sp>
      </p:grpSp>
      <p:sp>
        <p:nvSpPr>
          <p:cNvPr name="TextBox 34" id="34"/>
          <p:cNvSpPr txBox="true"/>
          <p:nvPr/>
        </p:nvSpPr>
        <p:spPr>
          <a:xfrm rot="0">
            <a:off x="6880860" y="7560945"/>
            <a:ext cx="4274820" cy="6915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20"/>
              </a:lnSpc>
            </a:pPr>
            <a:r>
              <a:rPr lang="en-US" sz="1350" u="sng">
                <a:solidFill>
                  <a:srgbClr val="CADCFC"/>
                </a:solidFill>
                <a:latin typeface="Calibri (MS)"/>
                <a:ea typeface="Calibri (MS)"/>
                <a:cs typeface="Calibri (MS)"/>
                <a:sym typeface="Calibri (MS)"/>
                <a:hlinkClick r:id="rId8" tooltip="https://drive.google.com/drive/folders/1fDKt0R2d8Mjop54vf5LYDupLACMaQ-sz"/>
              </a:rPr>
              <a:t>drive.google.com/drive/folders/1fDKt0R2d8Mjop54vf5LYDupLACMaQ-sz</a:t>
            </a:r>
          </a:p>
        </p:txBody>
      </p:sp>
      <p:grpSp>
        <p:nvGrpSpPr>
          <p:cNvPr name="Group 35" id="35"/>
          <p:cNvGrpSpPr/>
          <p:nvPr/>
        </p:nvGrpSpPr>
        <p:grpSpPr>
          <a:xfrm rot="0">
            <a:off x="12070080" y="3223260"/>
            <a:ext cx="5143500" cy="5349240"/>
            <a:chOff x="0" y="0"/>
            <a:chExt cx="6858000" cy="713232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6858000" cy="7132320"/>
            </a:xfrm>
            <a:custGeom>
              <a:avLst/>
              <a:gdLst/>
              <a:ahLst/>
              <a:cxnLst/>
              <a:rect r="r" b="b" t="t" l="l"/>
              <a:pathLst>
                <a:path h="7132320" w="6858000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6675120" y="0"/>
                  </a:lnTo>
                  <a:cubicBezTo>
                    <a:pt x="6776085" y="0"/>
                    <a:pt x="6858000" y="81915"/>
                    <a:pt x="6858000" y="182880"/>
                  </a:cubicBezTo>
                  <a:lnTo>
                    <a:pt x="6858000" y="6949440"/>
                  </a:lnTo>
                  <a:cubicBezTo>
                    <a:pt x="6858000" y="7050405"/>
                    <a:pt x="6776085" y="7132320"/>
                    <a:pt x="6675120" y="7132320"/>
                  </a:cubicBezTo>
                  <a:lnTo>
                    <a:pt x="182880" y="7132320"/>
                  </a:lnTo>
                  <a:cubicBezTo>
                    <a:pt x="81915" y="7132320"/>
                    <a:pt x="0" y="7050405"/>
                    <a:pt x="0" y="6949440"/>
                  </a:cubicBezTo>
                  <a:close/>
                </a:path>
              </a:pathLst>
            </a:custGeom>
            <a:solidFill>
              <a:srgbClr val="263882"/>
            </a:solidFill>
          </p:spPr>
        </p:sp>
      </p:grpSp>
      <p:grpSp>
        <p:nvGrpSpPr>
          <p:cNvPr name="Group 37" id="37"/>
          <p:cNvGrpSpPr/>
          <p:nvPr/>
        </p:nvGrpSpPr>
        <p:grpSpPr>
          <a:xfrm rot="0">
            <a:off x="14024610" y="3840480"/>
            <a:ext cx="1234440" cy="1234440"/>
            <a:chOff x="0" y="0"/>
            <a:chExt cx="1645920" cy="164592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1645920" cy="1645920"/>
            </a:xfrm>
            <a:custGeom>
              <a:avLst/>
              <a:gdLst/>
              <a:ahLst/>
              <a:cxnLst/>
              <a:rect r="r" b="b" t="t" l="l"/>
              <a:pathLst>
                <a:path h="1645920" w="1645920">
                  <a:moveTo>
                    <a:pt x="0" y="822960"/>
                  </a:moveTo>
                  <a:cubicBezTo>
                    <a:pt x="0" y="368427"/>
                    <a:pt x="368427" y="0"/>
                    <a:pt x="822960" y="0"/>
                  </a:cubicBezTo>
                  <a:cubicBezTo>
                    <a:pt x="1277493" y="0"/>
                    <a:pt x="1645920" y="368427"/>
                    <a:pt x="1645920" y="822960"/>
                  </a:cubicBezTo>
                  <a:cubicBezTo>
                    <a:pt x="1645920" y="1277493"/>
                    <a:pt x="1277493" y="1645920"/>
                    <a:pt x="822960" y="1645920"/>
                  </a:cubicBezTo>
                  <a:cubicBezTo>
                    <a:pt x="368427" y="1645920"/>
                    <a:pt x="0" y="1277493"/>
                    <a:pt x="0" y="822960"/>
                  </a:cubicBezTo>
                  <a:close/>
                </a:path>
              </a:pathLst>
            </a:custGeom>
            <a:solidFill>
              <a:srgbClr val="F2B134"/>
            </a:solidFill>
          </p:spPr>
        </p:sp>
      </p:grpSp>
      <p:grpSp>
        <p:nvGrpSpPr>
          <p:cNvPr name="Group 39" id="39"/>
          <p:cNvGrpSpPr/>
          <p:nvPr/>
        </p:nvGrpSpPr>
        <p:grpSpPr>
          <a:xfrm rot="0">
            <a:off x="14298930" y="4114800"/>
            <a:ext cx="685800" cy="685800"/>
            <a:chOff x="0" y="0"/>
            <a:chExt cx="914400" cy="914400"/>
          </a:xfrm>
        </p:grpSpPr>
        <p:sp>
          <p:nvSpPr>
            <p:cNvPr name="Freeform 40" id="40" descr="/home/claude/icons/powerbi.png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0" b="0"/>
              </a:stretch>
            </a:blipFill>
          </p:spPr>
        </p:sp>
      </p:grpSp>
      <p:sp>
        <p:nvSpPr>
          <p:cNvPr name="TextBox 41" id="41"/>
          <p:cNvSpPr txBox="true"/>
          <p:nvPr/>
        </p:nvSpPr>
        <p:spPr>
          <a:xfrm rot="0">
            <a:off x="12573000" y="5396865"/>
            <a:ext cx="4137660" cy="1003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0"/>
              </a:lnSpc>
            </a:pPr>
            <a:r>
              <a:rPr lang="en-US" sz="1725" b="true">
                <a:solidFill>
                  <a:srgbClr val="CADCFC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PAINEL COM AS ANÁLISES E VISUALIZAÇÕES</a:t>
            </a:r>
          </a:p>
        </p:txBody>
      </p:sp>
      <p:sp>
        <p:nvSpPr>
          <p:cNvPr name="AutoShape 42" id="42"/>
          <p:cNvSpPr/>
          <p:nvPr/>
        </p:nvSpPr>
        <p:spPr>
          <a:xfrm rot="18600">
            <a:off x="12883486" y="6647497"/>
            <a:ext cx="3516678" cy="0"/>
          </a:xfrm>
          <a:prstGeom prst="line">
            <a:avLst/>
          </a:prstGeom>
          <a:ln cap="rnd" w="9525">
            <a:solidFill>
              <a:srgbClr val="CADCFC">
                <a:alpha val="44706"/>
              </a:srgbClr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3" id="43"/>
          <p:cNvGrpSpPr/>
          <p:nvPr/>
        </p:nvGrpSpPr>
        <p:grpSpPr>
          <a:xfrm rot="0">
            <a:off x="12412980" y="6858000"/>
            <a:ext cx="4457700" cy="685800"/>
            <a:chOff x="0" y="0"/>
            <a:chExt cx="5943600" cy="91440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5943600" cy="914400"/>
            </a:xfrm>
            <a:custGeom>
              <a:avLst/>
              <a:gdLst/>
              <a:ahLst/>
              <a:cxnLst/>
              <a:rect r="r" b="b" t="t" l="l"/>
              <a:pathLst>
                <a:path h="914400" w="5943600">
                  <a:moveTo>
                    <a:pt x="0" y="0"/>
                  </a:moveTo>
                  <a:lnTo>
                    <a:pt x="5943600" y="0"/>
                  </a:lnTo>
                  <a:lnTo>
                    <a:pt x="59436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6652" r="0" b="-76652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38100"/>
              <a:ext cx="5943600" cy="9525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b="true" sz="2400" u="sng">
                  <a:solidFill>
                    <a:srgbClr val="F2B134"/>
                  </a:solidFill>
                  <a:latin typeface="Calibri (MS) Bold"/>
                  <a:ea typeface="Calibri (MS) Bold"/>
                  <a:cs typeface="Calibri (MS) Bold"/>
                  <a:sym typeface="Calibri (MS) Bold"/>
                  <a:hlinkClick r:id="rId10" tooltip="https://tinyurl.com/hfvz53c3"/>
                </a:rPr>
                <a:t>Dashboard Executivo (Power BI)</a:t>
              </a:r>
            </a:p>
          </p:txBody>
        </p:sp>
      </p:grpSp>
      <p:sp>
        <p:nvSpPr>
          <p:cNvPr name="TextBox 46" id="46"/>
          <p:cNvSpPr txBox="true"/>
          <p:nvPr/>
        </p:nvSpPr>
        <p:spPr>
          <a:xfrm rot="0">
            <a:off x="12504420" y="7560945"/>
            <a:ext cx="4274820" cy="6915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20"/>
              </a:lnSpc>
            </a:pPr>
            <a:r>
              <a:rPr lang="en-US" sz="1350" u="sng">
                <a:solidFill>
                  <a:srgbClr val="CADCFC"/>
                </a:solidFill>
                <a:latin typeface="Calibri (MS)"/>
                <a:ea typeface="Calibri (MS)"/>
                <a:cs typeface="Calibri (MS)"/>
                <a:sym typeface="Calibri (MS)"/>
                <a:hlinkClick r:id="rId11" tooltip="https://tinyurl.com/hfvz53c3"/>
              </a:rPr>
              <a:t>tinyurl.com/hfvz53c3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743200" y="-2743200"/>
            <a:ext cx="6858000" cy="6858000"/>
            <a:chOff x="0" y="0"/>
            <a:chExt cx="9144000" cy="9144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144000" cy="9144000"/>
            </a:xfrm>
            <a:custGeom>
              <a:avLst/>
              <a:gdLst/>
              <a:ahLst/>
              <a:cxnLst/>
              <a:rect r="r" b="b" t="t" l="l"/>
              <a:pathLst>
                <a:path h="9144000" w="9144000">
                  <a:moveTo>
                    <a:pt x="0" y="4572000"/>
                  </a:moveTo>
                  <a:cubicBezTo>
                    <a:pt x="0" y="2046986"/>
                    <a:pt x="2046986" y="0"/>
                    <a:pt x="4572000" y="0"/>
                  </a:cubicBezTo>
                  <a:cubicBezTo>
                    <a:pt x="7097014" y="0"/>
                    <a:pt x="9144000" y="2046986"/>
                    <a:pt x="9144000" y="4572000"/>
                  </a:cubicBezTo>
                  <a:cubicBezTo>
                    <a:pt x="9144000" y="7097014"/>
                    <a:pt x="7097014" y="9144000"/>
                    <a:pt x="4572000" y="9144000"/>
                  </a:cubicBezTo>
                  <a:cubicBezTo>
                    <a:pt x="2046986" y="9144000"/>
                    <a:pt x="0" y="7097014"/>
                    <a:pt x="0" y="4572000"/>
                  </a:cubicBezTo>
                  <a:close/>
                </a:path>
              </a:pathLst>
            </a:custGeom>
            <a:solidFill>
              <a:srgbClr val="2E3F8F">
                <a:alpha val="35686"/>
              </a:srgbClr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4813280" y="7132320"/>
            <a:ext cx="5760720" cy="5760720"/>
            <a:chOff x="0" y="0"/>
            <a:chExt cx="7680960" cy="768096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7680960" cy="7680960"/>
            </a:xfrm>
            <a:custGeom>
              <a:avLst/>
              <a:gdLst/>
              <a:ahLst/>
              <a:cxnLst/>
              <a:rect r="r" b="b" t="t" l="l"/>
              <a:pathLst>
                <a:path h="7680960" w="7680960">
                  <a:moveTo>
                    <a:pt x="0" y="3840480"/>
                  </a:moveTo>
                  <a:cubicBezTo>
                    <a:pt x="0" y="1719453"/>
                    <a:pt x="1719453" y="0"/>
                    <a:pt x="3840480" y="0"/>
                  </a:cubicBezTo>
                  <a:cubicBezTo>
                    <a:pt x="5961507" y="0"/>
                    <a:pt x="7680960" y="1719453"/>
                    <a:pt x="7680960" y="3840480"/>
                  </a:cubicBezTo>
                  <a:cubicBezTo>
                    <a:pt x="7680960" y="5961507"/>
                    <a:pt x="5961507" y="7680960"/>
                    <a:pt x="3840480" y="7680960"/>
                  </a:cubicBezTo>
                  <a:cubicBezTo>
                    <a:pt x="1719453" y="7680960"/>
                    <a:pt x="0" y="5961507"/>
                    <a:pt x="0" y="3840480"/>
                  </a:cubicBezTo>
                  <a:close/>
                </a:path>
              </a:pathLst>
            </a:custGeom>
            <a:solidFill>
              <a:srgbClr val="F2B134">
                <a:alpha val="3137"/>
              </a:srgbClr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0" y="3977640"/>
            <a:ext cx="18283428" cy="1508760"/>
            <a:chOff x="0" y="0"/>
            <a:chExt cx="24377904" cy="201168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4377904" cy="2011680"/>
            </a:xfrm>
            <a:custGeom>
              <a:avLst/>
              <a:gdLst/>
              <a:ahLst/>
              <a:cxnLst/>
              <a:rect r="r" b="b" t="t" l="l"/>
              <a:pathLst>
                <a:path h="2011680" w="24377904">
                  <a:moveTo>
                    <a:pt x="0" y="0"/>
                  </a:moveTo>
                  <a:lnTo>
                    <a:pt x="24377904" y="0"/>
                  </a:lnTo>
                  <a:lnTo>
                    <a:pt x="24377904" y="2011680"/>
                  </a:lnTo>
                  <a:lnTo>
                    <a:pt x="0" y="2011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6123" r="0" b="-186123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19050"/>
              <a:ext cx="24377904" cy="20307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7920"/>
                </a:lnSpc>
              </a:pPr>
              <a:r>
                <a:rPr lang="en-US" sz="66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Obrigado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DAHUO3sHXMg</dc:identifier>
  <dcterms:modified xsi:type="dcterms:W3CDTF">2011-08-01T06:04:30Z</dcterms:modified>
  <cp:revision>1</cp:revision>
  <dc:title>State of Data - Grupo 6 - Pos Tech</dc:title>
</cp:coreProperties>
</file>